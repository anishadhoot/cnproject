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d3f43bf-6e9c-6058-1ebf-17837759206a}">
          <p14:sldIdLst>
            <p14:sldId id="256"/>
          </p14:sldIdLst>
        </p14:section>
        <p14:section name="Design" id="{543b2f10-33bf-ba36-50e2-e8ae210284f5}">
          <p14:sldIdLst>
            <p14:sldId id="257"/>
            <p14:sldId id="258"/>
            <p14:sldId id="259"/>
            <p14:sldId id="260"/>
          </p14:sldIdLst>
        </p14:section>
        <p14:section name="Results" id="{3ea217f7-56e4-4ecc-d0c3-dd0dd5922722}">
          <p14:sldIdLst>
            <p14:sldId id="261"/>
            <p14:sldId id="262"/>
            <p14:sldId id="263"/>
            <p14:sldId id="264"/>
          </p14:sldIdLst>
        </p14:section>
        <p14:section name="Wrap-up" id="{117f0753-68b0-c696-3724-c19e21642f46}">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Delivery ratio (%)</a:t>
            </a:r>
          </a:p>
        </c:rich>
      </c:tx>
      <c:layout/>
      <c:overlay val="0"/>
    </c:title>
    <c:autoTitleDeleted val="0"/>
    <c:plotArea>
      <c:layout/>
      <c:lineChart>
        <c:varyColors val="0"/>
        <c:ser>
          <c:idx val="0"/>
          <c:order val="0"/>
          <c:tx>
            <c:strRef>
              <c:f>Sheet1!$B$1</c:f>
              <c:strCache>
                <c:ptCount val="1"/>
                <c:pt idx="0">
                  <c:v>QoS 0</c:v>
                </c:pt>
              </c:strCache>
            </c:strRef>
          </c:tx>
          <c:spPr>
            <a:solidFill>
              <a:srgbClr val="E0A030"/>
            </a:solidFill>
            <a:ln w="3810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E0A030"/>
              </a:solidFill>
              <a:ln w="9525" cap="flat">
                <a:solidFill>
                  <a:srgbClr val="E0A030"/>
                </a:solidFill>
                <a:prstDash val="solid"/>
                <a:round/>
              </a:ln>
              <a:effectLst/>
            </c:spPr>
          </c:marker>
          <c:cat>
            <c:multiLvlStrRef>
              <c:f>Sheet1!$A$2:$A$5</c:f>
              <c:multiLvlStrCache>
                <c:ptCount val="4"/>
                <c:lvl>
                  <c:pt idx="0">
                    <c:v>0%</c:v>
                  </c:pt>
                  <c:pt idx="1">
                    <c:v>5%</c:v>
                  </c:pt>
                  <c:pt idx="2">
                    <c:v>10%</c:v>
                  </c:pt>
                  <c:pt idx="3">
                    <c:v>20%</c:v>
                  </c:pt>
                </c:lvl>
              </c:multiLvlStrCache>
            </c:multiLvlStrRef>
          </c:cat>
          <c:val>
            <c:numRef>
              <c:f>Sheet1!$B$2:$B$5</c:f>
              <c:numCache>
                <c:formatCode>General</c:formatCode>
                <c:ptCount val="4"/>
                <c:pt idx="0">
                  <c:v>100</c:v>
                </c:pt>
                <c:pt idx="1">
                  <c:v>89.3</c:v>
                </c:pt>
                <c:pt idx="2">
                  <c:v>82.1</c:v>
                </c:pt>
                <c:pt idx="3">
                  <c:v>64.2</c:v>
                </c:pt>
              </c:numCache>
            </c:numRef>
          </c:val>
          <c:smooth val="0"/>
        </c:ser>
        <c:ser>
          <c:idx val="1"/>
          <c:order val="1"/>
          <c:tx>
            <c:strRef>
              <c:f>Sheet1!$C$1</c:f>
              <c:strCache>
                <c:ptCount val="1"/>
                <c:pt idx="0">
                  <c:v>QoS 1</c:v>
                </c:pt>
              </c:strCache>
            </c:strRef>
          </c:tx>
          <c:spPr>
            <a:solidFill>
              <a:srgbClr val="1B7F8C"/>
            </a:solidFill>
            <a:ln w="38100" cap="flat">
              <a:solidFill>
                <a:srgbClr val="1B7F8C"/>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1B7F8C"/>
              </a:solidFill>
              <a:ln w="9525" cap="flat">
                <a:solidFill>
                  <a:srgbClr val="1B7F8C"/>
                </a:solidFill>
                <a:prstDash val="solid"/>
                <a:round/>
              </a:ln>
              <a:effectLst/>
            </c:spPr>
          </c:marker>
          <c:cat>
            <c:multiLvlStrRef>
              <c:f>Sheet1!$A$2:$A$5</c:f>
              <c:multiLvlStrCache>
                <c:ptCount val="4"/>
                <c:lvl>
                  <c:pt idx="0">
                    <c:v>0%</c:v>
                  </c:pt>
                  <c:pt idx="1">
                    <c:v>5%</c:v>
                  </c:pt>
                  <c:pt idx="2">
                    <c:v>10%</c:v>
                  </c:pt>
                  <c:pt idx="3">
                    <c:v>20%</c:v>
                  </c:pt>
                </c:lvl>
              </c:multiLvlStrCache>
            </c:multiLvlStrRef>
          </c:cat>
          <c:val>
            <c:numRef>
              <c:f>Sheet1!$C$2:$C$5</c:f>
              <c:numCache>
                <c:formatCode>General</c:formatCode>
                <c:ptCount val="4"/>
                <c:pt idx="0">
                  <c:v>100</c:v>
                </c:pt>
                <c:pt idx="1">
                  <c:v>100</c:v>
                </c:pt>
                <c:pt idx="2">
                  <c:v>100</c:v>
                </c:pt>
                <c:pt idx="3">
                  <c:v>100</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5DE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200">
              <a:solidFill>
                <a:srgbClr val="5B67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Mean latency (ms)</a:t>
            </a:r>
          </a:p>
        </c:rich>
      </c:tx>
      <c:layout/>
      <c:overlay val="0"/>
    </c:title>
    <c:autoTitleDeleted val="0"/>
    <c:plotArea>
      <c:layout/>
      <c:lineChart>
        <c:varyColors val="0"/>
        <c:ser>
          <c:idx val="0"/>
          <c:order val="0"/>
          <c:tx>
            <c:strRef>
              <c:f>Sheet1!$B$1</c:f>
              <c:strCache>
                <c:ptCount val="1"/>
                <c:pt idx="0">
                  <c:v>QoS 0</c:v>
                </c:pt>
              </c:strCache>
            </c:strRef>
          </c:tx>
          <c:spPr>
            <a:solidFill>
              <a:srgbClr val="E0A030"/>
            </a:solidFill>
            <a:ln w="3810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E0A030"/>
              </a:solidFill>
              <a:ln w="9525" cap="flat">
                <a:solidFill>
                  <a:srgbClr val="E0A030"/>
                </a:solidFill>
                <a:prstDash val="solid"/>
                <a:round/>
              </a:ln>
              <a:effectLst/>
            </c:spPr>
          </c:marker>
          <c:cat>
            <c:multiLvlStrRef>
              <c:f>Sheet1!$A$2:$A$5</c:f>
              <c:multiLvlStrCache>
                <c:ptCount val="4"/>
                <c:lvl>
                  <c:pt idx="0">
                    <c:v>0%</c:v>
                  </c:pt>
                  <c:pt idx="1">
                    <c:v>5%</c:v>
                  </c:pt>
                  <c:pt idx="2">
                    <c:v>10%</c:v>
                  </c:pt>
                  <c:pt idx="3">
                    <c:v>20%</c:v>
                  </c:pt>
                </c:lvl>
              </c:multiLvlStrCache>
            </c:multiLvlStrRef>
          </c:cat>
          <c:val>
            <c:numRef>
              <c:f>Sheet1!$B$2:$B$5</c:f>
              <c:numCache>
                <c:formatCode>General</c:formatCode>
                <c:ptCount val="4"/>
                <c:pt idx="0">
                  <c:v>0.6</c:v>
                </c:pt>
                <c:pt idx="1">
                  <c:v>1.6</c:v>
                </c:pt>
                <c:pt idx="2">
                  <c:v>1.4</c:v>
                </c:pt>
                <c:pt idx="3">
                  <c:v>1.8</c:v>
                </c:pt>
              </c:numCache>
            </c:numRef>
          </c:val>
          <c:smooth val="0"/>
        </c:ser>
        <c:ser>
          <c:idx val="1"/>
          <c:order val="1"/>
          <c:tx>
            <c:strRef>
              <c:f>Sheet1!$C$1</c:f>
              <c:strCache>
                <c:ptCount val="1"/>
                <c:pt idx="0">
                  <c:v>QoS 1</c:v>
                </c:pt>
              </c:strCache>
            </c:strRef>
          </c:tx>
          <c:spPr>
            <a:solidFill>
              <a:srgbClr val="1B7F8C"/>
            </a:solidFill>
            <a:ln w="38100" cap="flat">
              <a:solidFill>
                <a:srgbClr val="1B7F8C"/>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1B7F8C"/>
              </a:solidFill>
              <a:ln w="9525" cap="flat">
                <a:solidFill>
                  <a:srgbClr val="1B7F8C"/>
                </a:solidFill>
                <a:prstDash val="solid"/>
                <a:round/>
              </a:ln>
              <a:effectLst/>
            </c:spPr>
          </c:marker>
          <c:cat>
            <c:multiLvlStrRef>
              <c:f>Sheet1!$A$2:$A$5</c:f>
              <c:multiLvlStrCache>
                <c:ptCount val="4"/>
                <c:lvl>
                  <c:pt idx="0">
                    <c:v>0%</c:v>
                  </c:pt>
                  <c:pt idx="1">
                    <c:v>5%</c:v>
                  </c:pt>
                  <c:pt idx="2">
                    <c:v>10%</c:v>
                  </c:pt>
                  <c:pt idx="3">
                    <c:v>20%</c:v>
                  </c:pt>
                </c:lvl>
              </c:multiLvlStrCache>
            </c:multiLvlStrRef>
          </c:cat>
          <c:val>
            <c:numRef>
              <c:f>Sheet1!$C$2:$C$5</c:f>
              <c:numCache>
                <c:formatCode>General</c:formatCode>
                <c:ptCount val="4"/>
                <c:pt idx="0">
                  <c:v>2</c:v>
                </c:pt>
                <c:pt idx="1">
                  <c:v>24.5</c:v>
                </c:pt>
                <c:pt idx="2">
                  <c:v>48.1</c:v>
                </c:pt>
                <c:pt idx="3">
                  <c:v>109.4</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9525" cap="flat">
              <a:solidFill>
                <a:srgbClr val="D5DE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solidFill>
                <a:srgbClr val="5B67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Retransmissions per 300 messages, by loss rate</a:t>
            </a:r>
          </a:p>
        </c:rich>
      </c:tx>
      <c:layout/>
      <c:overlay val="0"/>
    </c:title>
    <c:autoTitleDeleted val="0"/>
    <c:plotArea>
      <c:layout/>
      <c:barChart>
        <c:barDir val="col"/>
        <c:grouping val="clustered"/>
        <c:varyColors val="0"/>
        <c:ser>
          <c:idx val="0"/>
          <c:order val="0"/>
          <c:tx>
            <c:strRef>
              <c:f>Sheet1!$B$1</c:f>
              <c:strCache>
                <c:ptCount val="1"/>
                <c:pt idx="0">
                  <c:v>Publisher retries</c:v>
                </c:pt>
              </c:strCache>
            </c:strRef>
          </c:tx>
          <c:spPr>
            <a:solidFill>
              <a:srgbClr val="16324F"/>
            </a:solidFill>
            <a:effectLst/>
          </c:spPr>
          <c:invertIfNegative val="0"/>
          <c:dLbls>
            <c:numFmt formatCode="0" sourceLinked="0"/>
            <c:txPr>
              <a:bodyPr/>
              <a:lstStyle/>
              <a:p>
                <a:pPr>
                  <a:defRPr b="0" i="0" strike="noStrike" sz="1100" u="none">
                    <a:solidFill>
                      <a:srgbClr val="1F2933"/>
                    </a:solidFill>
                    <a:latin typeface="+mn-lt"/>
                  </a:defRPr>
                </a:pPr>
              </a:p>
            </c:txPr>
            <c:showLegendKey val="0"/>
            <c:showVal val="1"/>
            <c:showCatName val="0"/>
            <c:showSerName val="0"/>
            <c:showPercent val="0"/>
            <c:showBubbleSize val="0"/>
            <c:showLeaderLines val="0"/>
          </c:dLbls>
          <c:cat>
            <c:multiLvlStrRef>
              <c:f>Sheet1!$A$2:$A$4</c:f>
              <c:multiLvlStrCache>
                <c:ptCount val="3"/>
                <c:lvl>
                  <c:pt idx="0">
                    <c:v>5%</c:v>
                  </c:pt>
                  <c:pt idx="1">
                    <c:v>10%</c:v>
                  </c:pt>
                  <c:pt idx="2">
                    <c:v>20%</c:v>
                  </c:pt>
                </c:lvl>
              </c:multiLvlStrCache>
            </c:multiLvlStrRef>
          </c:cat>
          <c:val>
            <c:numRef>
              <c:f>Sheet1!$B$2:$B$4</c:f>
              <c:numCache>
                <c:formatCode>General</c:formatCode>
                <c:ptCount val="3"/>
                <c:pt idx="0">
                  <c:v>32.3</c:v>
                </c:pt>
                <c:pt idx="1">
                  <c:v>71.3</c:v>
                </c:pt>
                <c:pt idx="2">
                  <c:v>164.3</c:v>
                </c:pt>
              </c:numCache>
            </c:numRef>
          </c:val>
        </c:ser>
        <c:ser>
          <c:idx val="1"/>
          <c:order val="1"/>
          <c:tx>
            <c:strRef>
              <c:f>Sheet1!$C$1</c:f>
              <c:strCache>
                <c:ptCount val="1"/>
                <c:pt idx="0">
                  <c:v>Broker retransmits</c:v>
                </c:pt>
              </c:strCache>
            </c:strRef>
          </c:tx>
          <c:spPr>
            <a:solidFill>
              <a:srgbClr val="1B7F8C"/>
            </a:solidFill>
            <a:effectLst/>
          </c:spPr>
          <c:invertIfNegative val="0"/>
          <c:dLbls>
            <c:numFmt formatCode="0" sourceLinked="0"/>
            <c:txPr>
              <a:bodyPr/>
              <a:lstStyle/>
              <a:p>
                <a:pPr>
                  <a:defRPr b="0" i="0" strike="noStrike" sz="1100" u="none">
                    <a:solidFill>
                      <a:srgbClr val="1F2933"/>
                    </a:solidFill>
                    <a:latin typeface="+mn-lt"/>
                  </a:defRPr>
                </a:pPr>
              </a:p>
            </c:txPr>
            <c:showLegendKey val="0"/>
            <c:showVal val="1"/>
            <c:showCatName val="0"/>
            <c:showSerName val="0"/>
            <c:showPercent val="0"/>
            <c:showBubbleSize val="0"/>
            <c:showLeaderLines val="0"/>
          </c:dLbls>
          <c:cat>
            <c:multiLvlStrRef>
              <c:f>Sheet1!$A$2:$A$4</c:f>
              <c:multiLvlStrCache>
                <c:ptCount val="3"/>
                <c:lvl>
                  <c:pt idx="0">
                    <c:v>5%</c:v>
                  </c:pt>
                  <c:pt idx="1">
                    <c:v>10%</c:v>
                  </c:pt>
                  <c:pt idx="2">
                    <c:v>20%</c:v>
                  </c:pt>
                </c:lvl>
              </c:multiLvlStrCache>
            </c:multiLvlStrRef>
          </c:cat>
          <c:val>
            <c:numRef>
              <c:f>Sheet1!$C$2:$C$4</c:f>
              <c:numCache>
                <c:formatCode>General</c:formatCode>
                <c:ptCount val="3"/>
                <c:pt idx="0">
                  <c:v>31.3</c:v>
                </c:pt>
                <c:pt idx="1">
                  <c:v>72.7</c:v>
                </c:pt>
                <c:pt idx="2">
                  <c:v>171.3</c:v>
                </c:pt>
              </c:numCache>
            </c:numRef>
          </c:val>
        </c:ser>
        <c:dLbls>
          <c:numFmt formatCode="0" sourceLinked="0"/>
          <c:txPr>
            <a:bodyPr/>
            <a:lstStyle/>
            <a:p>
              <a:pPr>
                <a:defRPr b="0" i="0" strike="noStrike" sz="1100" u="none">
                  <a:solidFill>
                    <a:srgbClr val="1F29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9525" cap="flat">
              <a:solidFill>
                <a:srgbClr val="D5DE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4"/>
        <c:crosses val="autoZero"/>
        <c:crossBetween val="between"/>
        <c:majorUnit val="50"/>
      </c:valAx>
      <c:spPr>
        <a:noFill/>
        <a:ln>
          <a:noFill/>
        </a:ln>
        <a:effectLst/>
      </c:spPr>
    </c:plotArea>
    <c:legend>
      <c:legendPos val="b"/>
      <c:overlay val="0"/>
      <c:txPr>
        <a:bodyPr/>
        <a:lstStyle/>
        <a:p>
          <a:pPr>
            <a:defRPr sz="1200">
              <a:solidFill>
                <a:srgbClr val="5B67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Latency (ms) by number of subscribers</a:t>
            </a:r>
          </a:p>
        </c:rich>
      </c:tx>
      <c:layout/>
      <c:overlay val="0"/>
    </c:title>
    <c:autoTitleDeleted val="0"/>
    <c:plotArea>
      <c:layout/>
      <c:barChart>
        <c:barDir val="col"/>
        <c:grouping val="clustered"/>
        <c:varyColors val="0"/>
        <c:ser>
          <c:idx val="0"/>
          <c:order val="0"/>
          <c:tx>
            <c:strRef>
              <c:f>Sheet1!$B$1</c:f>
              <c:strCache>
                <c:ptCount val="1"/>
                <c:pt idx="0">
                  <c:v>Latency</c:v>
                </c:pt>
              </c:strCache>
            </c:strRef>
          </c:tx>
          <c:spPr>
            <a:solidFill>
              <a:srgbClr val="1B7F8C"/>
            </a:solidFill>
            <a:effectLst/>
          </c:spPr>
          <c:invertIfNegative val="0"/>
          <c:dLbls>
            <c:numFmt formatCode="0.0" sourceLinked="0"/>
            <c:txPr>
              <a:bodyPr/>
              <a:lstStyle/>
              <a:p>
                <a:pPr>
                  <a:defRPr b="0" i="0" strike="noStrike" sz="1200" u="none">
                    <a:solidFill>
                      <a:srgbClr val="1F2933"/>
                    </a:solidFill>
                    <a:latin typeface="+mn-lt"/>
                  </a:defRPr>
                </a:pPr>
              </a:p>
            </c:txPr>
            <c:showLegendKey val="0"/>
            <c:showVal val="1"/>
            <c:showCatName val="0"/>
            <c:showSerName val="0"/>
            <c:showPercent val="0"/>
            <c:showBubbleSize val="0"/>
            <c:showLeaderLines val="0"/>
          </c:dLbls>
          <c:cat>
            <c:multiLvlStrRef>
              <c:f>Sheet1!$A$2:$A$4</c:f>
              <c:multiLvlStrCache>
                <c:ptCount val="3"/>
                <c:lvl>
                  <c:pt idx="0">
                    <c:v>10</c:v>
                  </c:pt>
                  <c:pt idx="1">
                    <c:v>50</c:v>
                  </c:pt>
                  <c:pt idx="2">
                    <c:v>100</c:v>
                  </c:pt>
                </c:lvl>
              </c:multiLvlStrCache>
            </c:multiLvlStrRef>
          </c:cat>
          <c:val>
            <c:numRef>
              <c:f>Sheet1!$B$2:$B$4</c:f>
              <c:numCache>
                <c:formatCode>General</c:formatCode>
                <c:ptCount val="3"/>
                <c:pt idx="0">
                  <c:v>8.6</c:v>
                </c:pt>
                <c:pt idx="1">
                  <c:v>39.3</c:v>
                </c:pt>
                <c:pt idx="2">
                  <c:v>80</c:v>
                </c:pt>
              </c:numCache>
            </c:numRef>
          </c:val>
        </c:ser>
        <c:dLbls>
          <c:numFmt formatCode="0.0" sourceLinked="0"/>
          <c:txPr>
            <a:bodyPr/>
            <a:lstStyle/>
            <a:p>
              <a:pPr>
                <a:defRPr b="0" i="0" strike="noStrike" sz="1200" u="none">
                  <a:solidFill>
                    <a:srgbClr val="1F29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5DE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Messages per second by payload size</a:t>
            </a:r>
          </a:p>
        </c:rich>
      </c:tx>
      <c:layout/>
      <c:overlay val="0"/>
    </c:title>
    <c:autoTitleDeleted val="0"/>
    <c:plotArea>
      <c:layout/>
      <c:barChart>
        <c:barDir val="col"/>
        <c:grouping val="clustered"/>
        <c:varyColors val="0"/>
        <c:ser>
          <c:idx val="0"/>
          <c:order val="0"/>
          <c:tx>
            <c:strRef>
              <c:f>Sheet1!$B$1</c:f>
              <c:strCache>
                <c:ptCount val="1"/>
                <c:pt idx="0">
                  <c:v>Throughput</c:v>
                </c:pt>
              </c:strCache>
            </c:strRef>
          </c:tx>
          <c:spPr>
            <a:solidFill>
              <a:srgbClr val="16324F"/>
            </a:solidFill>
            <a:effectLst/>
          </c:spPr>
          <c:invertIfNegative val="0"/>
          <c:dLbls>
            <c:numFmt formatCode="#,##0" sourceLinked="0"/>
            <c:txPr>
              <a:bodyPr/>
              <a:lstStyle/>
              <a:p>
                <a:pPr>
                  <a:defRPr b="0" i="0" strike="noStrike" sz="1200" u="none">
                    <a:solidFill>
                      <a:srgbClr val="1F2933"/>
                    </a:solidFill>
                    <a:latin typeface="+mn-lt"/>
                  </a:defRPr>
                </a:pPr>
              </a:p>
            </c:txPr>
            <c:showLegendKey val="0"/>
            <c:showVal val="1"/>
            <c:showCatName val="0"/>
            <c:showSerName val="0"/>
            <c:showPercent val="0"/>
            <c:showBubbleSize val="0"/>
            <c:showLeaderLines val="0"/>
          </c:dLbls>
          <c:cat>
            <c:multiLvlStrRef>
              <c:f>Sheet1!$A$2:$A$4</c:f>
              <c:multiLvlStrCache>
                <c:ptCount val="3"/>
                <c:lvl>
                  <c:pt idx="0">
                    <c:v>64 B</c:v>
                  </c:pt>
                  <c:pt idx="1">
                    <c:v>1 KB</c:v>
                  </c:pt>
                  <c:pt idx="2">
                    <c:v>16 KB</c:v>
                  </c:pt>
                </c:lvl>
              </c:multiLvlStrCache>
            </c:multiLvlStrRef>
          </c:cat>
          <c:val>
            <c:numRef>
              <c:f>Sheet1!$B$2:$B$4</c:f>
              <c:numCache>
                <c:formatCode>General</c:formatCode>
                <c:ptCount val="3"/>
                <c:pt idx="0">
                  <c:v>7460</c:v>
                </c:pt>
                <c:pt idx="1">
                  <c:v>6660</c:v>
                </c:pt>
                <c:pt idx="2">
                  <c:v>2530</c:v>
                </c:pt>
              </c:numCache>
            </c:numRef>
          </c:val>
        </c:ser>
        <c:dLbls>
          <c:numFmt formatCode="#,##0" sourceLinked="0"/>
          <c:txPr>
            <a:bodyPr/>
            <a:lstStyle/>
            <a:p>
              <a:pPr>
                <a:defRPr b="0" i="0" strike="noStrike" sz="1200" u="none">
                  <a:solidFill>
                    <a:srgbClr val="1F29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2"/>
        <c:crosses val="autoZero"/>
        <c:auto val="1"/>
        <c:lblAlgn val="ctr"/>
        <c:noMultiLvlLbl val="1"/>
      </c:catAx>
      <c:valAx>
        <c:axId val="2094734552"/>
        <c:scaling>
          <c:orientation val="minMax"/>
          <c:max val="9000"/>
          <c:min val="0"/>
        </c:scaling>
        <c:delete val="0"/>
        <c:axPos val="l"/>
        <c:majorGridlines>
          <c:spPr>
            <a:ln w="9525" cap="flat">
              <a:solidFill>
                <a:srgbClr val="D5DEE2"/>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4"/>
        <c:crosses val="autoZero"/>
        <c:crossBetween val="between"/>
        <c:majorUnit val="30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breath. We built a publish-subscribe messaging system from scratch on TCP, and then broke the network on purpose to see what the delivery guarantees are worth. Names and roles go here when you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is that the sensor does not need to know who is listening. The interesting part for us is the trade-off. A guaranteed delivery needs acknowledgements and retries, and those take time and bandwidth. We wanted numbers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message is a JSON object with a four byte length in front. We need that length because TCP is a stream and two sends can arrive glued together. SUBACK and CONNACK were added after we noticed a publisher could race ahead of a subscriber on another connection. Wildcards: plus is one level, hash is everything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 can talk to the broker directly on 1883 or through our lossy proxy on 1884. The proxy opens its own connection to the broker for every client and copies frames both ways, dropping some. The broker holds the subscription list, the retained messages and the tables for QoS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QoS 0 is fire and forget. QoS 1 protects both hops separately. The publisher retries until the broker acknowledges. The broker gives every delivery its own id and retries until the subscriber acknowledges. If an acknowledgement is lost the sender cannot tell, so it resends and the receiver sees a duplicate. That is why the promise is at least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setting was run three times with 300 messages and the results averaged. Messages go out in batches of twenty so the QoS 1 runs finish in reasonable time. A fresh broker is started for every run so nothing carries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QoS 0 has to survive two lossy hops, so delivery should be one minus the loss rate, squared. At twenty percent that is 0.64 and we measured 64.2. QoS 1 delivered everything in every run. The price is latency. A message that needs a retry waits at least 0.2 seconds, and at twenty percent that averages to roughly a hundred milliseconds. We measured 109.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bill for the guarantee. At twenty percent loss we needed about 336 retransmissions to deliver 300 messages. Duplicates arrive because a lost acknowledgement looks the same as a lost message. Our client filters them by delivery id. The simple probability model predicts about 168 retries per hop and we measured 164 and 171, which gives us confidence in the implementation and the 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runs have no loss, QoS 1, so they show the system's own cost. Latency grows about in step with subscribers because one thread does the work for each of them. Small payloads are dominated by fixed per-message work, and JSON starts to hurt at sixteen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demo.py or do it by hand with three windows. The QoS 0 count changes every run because loss is random. The QoS 1 count should always be all of them. Finish by showing the STATS reply and pointing at the retransmit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these. The proxy models messages lost above TCP, not packet loss as TCP sees it. We also did not build QoS 2, keep-alive, last-will, TLS or the dashboard, and we say so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trade-off: reliability costs latency, traffic and duplicates, and now we have numbers for each.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Publish-Subscribe Messaging with QoS 0 and QoS 1 over TCP</a:t>
            </a:r>
            <a:endParaRPr lang="en-US" sz="3600" dirty="0"/>
          </a:p>
        </p:txBody>
      </p:sp>
      <p:sp>
        <p:nvSpPr>
          <p:cNvPr id="3" name="subtitle"/>
          <p:cNvSpPr txBox="1"/>
          <p:nvPr/>
        </p:nvSpPr>
        <p:spPr>
          <a:xfrm>
            <a:off x="640080" y="2514600"/>
            <a:ext cx="7863840" cy="457200"/>
          </a:xfrm>
          <a:prstGeom prst="rect">
            <a:avLst/>
          </a:prstGeom>
          <a:noFill/>
          <a:ln/>
        </p:spPr>
        <p:txBody>
          <a:bodyPr wrap="square" lIns="0" tIns="0" rIns="0" bIns="0" rtlCol="0" anchor="t"/>
          <a:lstStyle/>
          <a:p>
            <a:pPr indent="0" marL="0">
              <a:buNone/>
            </a:pPr>
            <a:r>
              <a:rPr lang="en-US" sz="2000" dirty="0">
                <a:solidFill>
                  <a:schemeClr val="accent5"/>
                </a:solidFill>
              </a:rPr>
              <a:t>Performance under emulated message loss</a:t>
            </a:r>
            <a:endParaRPr lang="en-US" sz="2000" dirty="0"/>
          </a:p>
        </p:txBody>
      </p:sp>
      <p:sp>
        <p:nvSpPr>
          <p:cNvPr id="4" name="course"/>
          <p:cNvSpPr txBox="1"/>
          <p:nvPr/>
        </p:nvSpPr>
        <p:spPr>
          <a:xfrm>
            <a:off x="640080" y="3017520"/>
            <a:ext cx="7863840" cy="365760"/>
          </a:xfrm>
          <a:prstGeom prst="rect">
            <a:avLst/>
          </a:prstGeom>
          <a:noFill/>
          <a:ln/>
        </p:spPr>
        <p:txBody>
          <a:bodyPr wrap="square" lIns="0" tIns="0" rIns="0" bIns="0" rtlCol="0" anchor="t"/>
          <a:lstStyle/>
          <a:p>
            <a:pPr indent="0" marL="0">
              <a:buNone/>
            </a:pPr>
            <a:r>
              <a:rPr lang="en-US" sz="1400" dirty="0">
                <a:solidFill>
                  <a:schemeClr val="bg2"/>
                </a:solidFill>
              </a:rPr>
              <a:t>Computer Networks project   |   Python 3, asyncio, plain TCP</a:t>
            </a:r>
            <a:endParaRPr lang="en-US" sz="1400" dirty="0"/>
          </a:p>
        </p:txBody>
      </p:sp>
      <p:sp>
        <p:nvSpPr>
          <p:cNvPr id="5" name="node Publisher"/>
          <p:cNvSpPr/>
          <p:nvPr/>
        </p:nvSpPr>
        <p:spPr>
          <a:xfrm>
            <a:off x="640080" y="3840480"/>
            <a:ext cx="2103120" cy="640080"/>
          </a:xfrm>
          <a:prstGeom prst="roundRect">
            <a:avLst>
              <a:gd name="adj" fmla="val 17143"/>
            </a:avLst>
          </a:prstGeom>
          <a:solidFill>
            <a:schemeClr val="accent6"/>
          </a:solidFill>
          <a:ln w="12700">
            <a:solidFill>
              <a:schemeClr val="accent5"/>
            </a:solidFill>
            <a:prstDash val="solid"/>
          </a:ln>
        </p:spPr>
      </p:sp>
      <p:sp>
        <p:nvSpPr>
          <p:cNvPr id="6" name="node label Publisher"/>
          <p:cNvSpPr txBox="1"/>
          <p:nvPr/>
        </p:nvSpPr>
        <p:spPr>
          <a:xfrm>
            <a:off x="640080" y="3840480"/>
            <a:ext cx="2103120" cy="640080"/>
          </a:xfrm>
          <a:prstGeom prst="rect">
            <a:avLst/>
          </a:prstGeom>
          <a:noFill/>
          <a:ln/>
        </p:spPr>
        <p:txBody>
          <a:bodyPr wrap="square" lIns="0" tIns="0" rIns="0" bIns="0" rtlCol="0" anchor="ctr"/>
          <a:lstStyle/>
          <a:p>
            <a:pPr algn="ctr" indent="0" marL="0">
              <a:buNone/>
            </a:pPr>
            <a:r>
              <a:rPr lang="en-US" sz="1600" b="1" dirty="0">
                <a:solidFill>
                  <a:schemeClr val="bg1"/>
                </a:solidFill>
              </a:rPr>
              <a:t>Publisher</a:t>
            </a:r>
            <a:endParaRPr lang="en-US" sz="1600" dirty="0"/>
          </a:p>
        </p:txBody>
      </p:sp>
      <p:sp>
        <p:nvSpPr>
          <p:cNvPr id="7" name="node Broker"/>
          <p:cNvSpPr/>
          <p:nvPr/>
        </p:nvSpPr>
        <p:spPr>
          <a:xfrm>
            <a:off x="3520440" y="3840480"/>
            <a:ext cx="2103120" cy="640080"/>
          </a:xfrm>
          <a:prstGeom prst="roundRect">
            <a:avLst>
              <a:gd name="adj" fmla="val 17143"/>
            </a:avLst>
          </a:prstGeom>
          <a:solidFill>
            <a:schemeClr val="accent1"/>
          </a:solidFill>
          <a:ln w="12700">
            <a:solidFill>
              <a:schemeClr val="accent5"/>
            </a:solidFill>
            <a:prstDash val="solid"/>
          </a:ln>
        </p:spPr>
      </p:sp>
      <p:sp>
        <p:nvSpPr>
          <p:cNvPr id="8" name="node label Broker"/>
          <p:cNvSpPr txBox="1"/>
          <p:nvPr/>
        </p:nvSpPr>
        <p:spPr>
          <a:xfrm>
            <a:off x="3520440" y="3840480"/>
            <a:ext cx="2103120" cy="640080"/>
          </a:xfrm>
          <a:prstGeom prst="rect">
            <a:avLst/>
          </a:prstGeom>
          <a:noFill/>
          <a:ln/>
        </p:spPr>
        <p:txBody>
          <a:bodyPr wrap="square" lIns="0" tIns="0" rIns="0" bIns="0" rtlCol="0" anchor="ctr"/>
          <a:lstStyle/>
          <a:p>
            <a:pPr algn="ctr" indent="0" marL="0">
              <a:buNone/>
            </a:pPr>
            <a:r>
              <a:rPr lang="en-US" sz="1600" b="1" dirty="0">
                <a:solidFill>
                  <a:schemeClr val="bg1"/>
                </a:solidFill>
              </a:rPr>
              <a:t>Broker</a:t>
            </a:r>
            <a:endParaRPr lang="en-US" sz="1600" dirty="0"/>
          </a:p>
        </p:txBody>
      </p:sp>
      <p:sp>
        <p:nvSpPr>
          <p:cNvPr id="9" name="node Subscriber"/>
          <p:cNvSpPr/>
          <p:nvPr/>
        </p:nvSpPr>
        <p:spPr>
          <a:xfrm>
            <a:off x="6400800" y="3840480"/>
            <a:ext cx="2103120" cy="640080"/>
          </a:xfrm>
          <a:prstGeom prst="roundRect">
            <a:avLst>
              <a:gd name="adj" fmla="val 17143"/>
            </a:avLst>
          </a:prstGeom>
          <a:solidFill>
            <a:schemeClr val="accent6"/>
          </a:solidFill>
          <a:ln w="12700">
            <a:solidFill>
              <a:schemeClr val="accent5"/>
            </a:solidFill>
            <a:prstDash val="solid"/>
          </a:ln>
        </p:spPr>
      </p:sp>
      <p:sp>
        <p:nvSpPr>
          <p:cNvPr id="10" name="node label Subscriber"/>
          <p:cNvSpPr txBox="1"/>
          <p:nvPr/>
        </p:nvSpPr>
        <p:spPr>
          <a:xfrm>
            <a:off x="6400800" y="3840480"/>
            <a:ext cx="2103120" cy="640080"/>
          </a:xfrm>
          <a:prstGeom prst="rect">
            <a:avLst/>
          </a:prstGeom>
          <a:noFill/>
          <a:ln/>
        </p:spPr>
        <p:txBody>
          <a:bodyPr wrap="square" lIns="0" tIns="0" rIns="0" bIns="0" rtlCol="0" anchor="ctr"/>
          <a:lstStyle/>
          <a:p>
            <a:pPr algn="ctr" indent="0" marL="0">
              <a:buNone/>
            </a:pPr>
            <a:r>
              <a:rPr lang="en-US" sz="1600" b="1" dirty="0">
                <a:solidFill>
                  <a:schemeClr val="bg1"/>
                </a:solidFill>
              </a:rPr>
              <a:t>Subscriber</a:t>
            </a:r>
            <a:endParaRPr lang="en-US" sz="1600" dirty="0"/>
          </a:p>
        </p:txBody>
      </p:sp>
      <p:sp>
        <p:nvSpPr>
          <p:cNvPr id="11" name="link 0"/>
          <p:cNvSpPr/>
          <p:nvPr/>
        </p:nvSpPr>
        <p:spPr>
          <a:xfrm>
            <a:off x="2743200" y="4160520"/>
            <a:ext cx="777240" cy="0"/>
          </a:xfrm>
          <a:prstGeom prst="line">
            <a:avLst/>
          </a:prstGeom>
          <a:noFill/>
          <a:ln w="25400">
            <a:solidFill>
              <a:schemeClr val="accent5"/>
            </a:solidFill>
            <a:prstDash val="solid"/>
            <a:tailEnd type="triangle"/>
          </a:ln>
        </p:spPr>
      </p:sp>
      <p:sp>
        <p:nvSpPr>
          <p:cNvPr id="12" name="link 1"/>
          <p:cNvSpPr/>
          <p:nvPr/>
        </p:nvSpPr>
        <p:spPr>
          <a:xfrm>
            <a:off x="5623560" y="4160520"/>
            <a:ext cx="777240" cy="0"/>
          </a:xfrm>
          <a:prstGeom prst="line">
            <a:avLst/>
          </a:prstGeom>
          <a:noFill/>
          <a:ln w="25400">
            <a:solidFill>
              <a:schemeClr val="accent5"/>
            </a:solidFill>
            <a:prstDash val="solid"/>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chemeClr val="tx2"/>
                </a:solidFill>
              </a:rPr>
              <a:t>Why publish-subscribe</a:t>
            </a:r>
            <a:endParaRPr lang="en-US" sz="3000" dirty="0"/>
          </a:p>
        </p:txBody>
      </p:sp>
      <p:sp>
        <p:nvSpPr>
          <p:cNvPr id="3" name="badge 1"/>
          <p:cNvSpPr/>
          <p:nvPr/>
        </p:nvSpPr>
        <p:spPr>
          <a:xfrm>
            <a:off x="548640" y="1417320"/>
            <a:ext cx="420624" cy="420624"/>
          </a:xfrm>
          <a:prstGeom prst="ellipse">
            <a:avLst/>
          </a:prstGeom>
          <a:solidFill>
            <a:schemeClr val="accent1"/>
          </a:solidFill>
          <a:ln w="12700">
            <a:solidFill>
              <a:schemeClr val="accent1"/>
            </a:solidFill>
            <a:prstDash val="solid"/>
          </a:ln>
        </p:spPr>
      </p:sp>
      <p:sp>
        <p:nvSpPr>
          <p:cNvPr id="4" name="badge text 1"/>
          <p:cNvSpPr txBox="1"/>
          <p:nvPr/>
        </p:nvSpPr>
        <p:spPr>
          <a:xfrm>
            <a:off x="548640" y="14173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row head 0"/>
          <p:cNvSpPr txBox="1"/>
          <p:nvPr/>
        </p:nvSpPr>
        <p:spPr>
          <a:xfrm>
            <a:off x="1188720" y="1371600"/>
            <a:ext cx="4206240" cy="320040"/>
          </a:xfrm>
          <a:prstGeom prst="rect">
            <a:avLst/>
          </a:prstGeom>
          <a:noFill/>
          <a:ln/>
        </p:spPr>
        <p:txBody>
          <a:bodyPr wrap="square" lIns="0" tIns="0" rIns="0" bIns="0" rtlCol="0" anchor="t"/>
          <a:lstStyle/>
          <a:p>
            <a:pPr indent="0" marL="0">
              <a:buNone/>
            </a:pPr>
            <a:r>
              <a:rPr lang="en-US" sz="1800" b="1" dirty="0">
                <a:solidFill>
                  <a:schemeClr val="tx2"/>
                </a:solidFill>
              </a:rPr>
              <a:t>Decoupled</a:t>
            </a:r>
            <a:endParaRPr lang="en-US" sz="1800" dirty="0"/>
          </a:p>
        </p:txBody>
      </p:sp>
      <p:sp>
        <p:nvSpPr>
          <p:cNvPr id="6" name="row text 0"/>
          <p:cNvSpPr txBox="1"/>
          <p:nvPr/>
        </p:nvSpPr>
        <p:spPr>
          <a:xfrm>
            <a:off x="1188720" y="1737360"/>
            <a:ext cx="4206240" cy="640080"/>
          </a:xfrm>
          <a:prstGeom prst="rect">
            <a:avLst/>
          </a:prstGeom>
          <a:noFill/>
          <a:ln/>
        </p:spPr>
        <p:txBody>
          <a:bodyPr wrap="square" lIns="0" tIns="0" rIns="0" bIns="0" rtlCol="0" anchor="t"/>
          <a:lstStyle/>
          <a:p>
            <a:pPr indent="0" marL="0">
              <a:buNone/>
            </a:pPr>
            <a:r>
              <a:rPr lang="en-US" sz="1400" dirty="0">
                <a:solidFill>
                  <a:schemeClr val="tx1"/>
                </a:solidFill>
              </a:rPr>
              <a:t>Publishers and subscribers never connect to each other. A broker passes messages along.</a:t>
            </a:r>
            <a:endParaRPr lang="en-US" sz="1400" dirty="0"/>
          </a:p>
        </p:txBody>
      </p:sp>
      <p:sp>
        <p:nvSpPr>
          <p:cNvPr id="7" name="badge 2"/>
          <p:cNvSpPr/>
          <p:nvPr/>
        </p:nvSpPr>
        <p:spPr>
          <a:xfrm>
            <a:off x="548640" y="2514600"/>
            <a:ext cx="420624" cy="420624"/>
          </a:xfrm>
          <a:prstGeom prst="ellipse">
            <a:avLst/>
          </a:prstGeom>
          <a:solidFill>
            <a:schemeClr val="accent1"/>
          </a:solidFill>
          <a:ln w="12700">
            <a:solidFill>
              <a:schemeClr val="accent1"/>
            </a:solidFill>
            <a:prstDash val="solid"/>
          </a:ln>
        </p:spPr>
      </p:sp>
      <p:sp>
        <p:nvSpPr>
          <p:cNvPr id="8" name="badge text 2"/>
          <p:cNvSpPr txBox="1"/>
          <p:nvPr/>
        </p:nvSpPr>
        <p:spPr>
          <a:xfrm>
            <a:off x="548640" y="251460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row head 1"/>
          <p:cNvSpPr txBox="1"/>
          <p:nvPr/>
        </p:nvSpPr>
        <p:spPr>
          <a:xfrm>
            <a:off x="1188720" y="2468880"/>
            <a:ext cx="4206240" cy="320040"/>
          </a:xfrm>
          <a:prstGeom prst="rect">
            <a:avLst/>
          </a:prstGeom>
          <a:noFill/>
          <a:ln/>
        </p:spPr>
        <p:txBody>
          <a:bodyPr wrap="square" lIns="0" tIns="0" rIns="0" bIns="0" rtlCol="0" anchor="t"/>
          <a:lstStyle/>
          <a:p>
            <a:pPr indent="0" marL="0">
              <a:buNone/>
            </a:pPr>
            <a:r>
              <a:rPr lang="en-US" sz="1800" b="1" dirty="0">
                <a:solidFill>
                  <a:schemeClr val="tx2"/>
                </a:solidFill>
              </a:rPr>
              <a:t>Topic based</a:t>
            </a:r>
            <a:endParaRPr lang="en-US" sz="1800" dirty="0"/>
          </a:p>
        </p:txBody>
      </p:sp>
      <p:sp>
        <p:nvSpPr>
          <p:cNvPr id="10" name="row text 1"/>
          <p:cNvSpPr txBox="1"/>
          <p:nvPr/>
        </p:nvSpPr>
        <p:spPr>
          <a:xfrm>
            <a:off x="1188720" y="2834640"/>
            <a:ext cx="4206240" cy="640080"/>
          </a:xfrm>
          <a:prstGeom prst="rect">
            <a:avLst/>
          </a:prstGeom>
          <a:noFill/>
          <a:ln/>
        </p:spPr>
        <p:txBody>
          <a:bodyPr wrap="square" lIns="0" tIns="0" rIns="0" bIns="0" rtlCol="0" anchor="t"/>
          <a:lstStyle/>
          <a:p>
            <a:pPr indent="0" marL="0">
              <a:buNone/>
            </a:pPr>
            <a:r>
              <a:rPr lang="en-US" sz="1400" dirty="0">
                <a:solidFill>
                  <a:schemeClr val="tx1"/>
                </a:solidFill>
              </a:rPr>
              <a:t>Each message has a topic like sensor/room1/temp. Subscribers choose with filters.</a:t>
            </a:r>
            <a:endParaRPr lang="en-US" sz="1400" dirty="0"/>
          </a:p>
        </p:txBody>
      </p:sp>
      <p:sp>
        <p:nvSpPr>
          <p:cNvPr id="11" name="badge 3"/>
          <p:cNvSpPr/>
          <p:nvPr/>
        </p:nvSpPr>
        <p:spPr>
          <a:xfrm>
            <a:off x="548640" y="3611880"/>
            <a:ext cx="420624" cy="420624"/>
          </a:xfrm>
          <a:prstGeom prst="ellipse">
            <a:avLst/>
          </a:prstGeom>
          <a:solidFill>
            <a:schemeClr val="accent1"/>
          </a:solidFill>
          <a:ln w="12700">
            <a:solidFill>
              <a:schemeClr val="accent1"/>
            </a:solidFill>
            <a:prstDash val="solid"/>
          </a:ln>
        </p:spPr>
      </p:sp>
      <p:sp>
        <p:nvSpPr>
          <p:cNvPr id="12" name="badge text 3"/>
          <p:cNvSpPr txBox="1"/>
          <p:nvPr/>
        </p:nvSpPr>
        <p:spPr>
          <a:xfrm>
            <a:off x="548640" y="361188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row head 2"/>
          <p:cNvSpPr txBox="1"/>
          <p:nvPr/>
        </p:nvSpPr>
        <p:spPr>
          <a:xfrm>
            <a:off x="1188720" y="3566160"/>
            <a:ext cx="4206240" cy="320040"/>
          </a:xfrm>
          <a:prstGeom prst="rect">
            <a:avLst/>
          </a:prstGeom>
          <a:noFill/>
          <a:ln/>
        </p:spPr>
        <p:txBody>
          <a:bodyPr wrap="square" lIns="0" tIns="0" rIns="0" bIns="0" rtlCol="0" anchor="t"/>
          <a:lstStyle/>
          <a:p>
            <a:pPr indent="0" marL="0">
              <a:buNone/>
            </a:pPr>
            <a:r>
              <a:rPr lang="en-US" sz="1800" b="1" dirty="0">
                <a:solidFill>
                  <a:schemeClr val="tx2"/>
                </a:solidFill>
              </a:rPr>
              <a:t>A cost question</a:t>
            </a:r>
            <a:endParaRPr lang="en-US" sz="1800" dirty="0"/>
          </a:p>
        </p:txBody>
      </p:sp>
      <p:sp>
        <p:nvSpPr>
          <p:cNvPr id="14" name="row text 2"/>
          <p:cNvSpPr txBox="1"/>
          <p:nvPr/>
        </p:nvSpPr>
        <p:spPr>
          <a:xfrm>
            <a:off x="1188720" y="3931920"/>
            <a:ext cx="4206240" cy="640080"/>
          </a:xfrm>
          <a:prstGeom prst="rect">
            <a:avLst/>
          </a:prstGeom>
          <a:noFill/>
          <a:ln/>
        </p:spPr>
        <p:txBody>
          <a:bodyPr wrap="square" lIns="0" tIns="0" rIns="0" bIns="0" rtlCol="0" anchor="t"/>
          <a:lstStyle/>
          <a:p>
            <a:pPr indent="0" marL="0">
              <a:buNone/>
            </a:pPr>
            <a:r>
              <a:rPr lang="en-US" sz="1400" dirty="0">
                <a:solidFill>
                  <a:schemeClr val="tx1"/>
                </a:solidFill>
              </a:rPr>
              <a:t>Acknowledgements make delivery safer but slower. How much does that safety cost?</a:t>
            </a:r>
            <a:endParaRPr lang="en-US" sz="1400" dirty="0"/>
          </a:p>
        </p:txBody>
      </p:sp>
      <p:sp>
        <p:nvSpPr>
          <p:cNvPr id="15" name="goal card"/>
          <p:cNvSpPr/>
          <p:nvPr/>
        </p:nvSpPr>
        <p:spPr>
          <a:xfrm>
            <a:off x="5852160" y="1371600"/>
            <a:ext cx="2743200" cy="3200400"/>
          </a:xfrm>
          <a:prstGeom prst="roundRect">
            <a:avLst>
              <a:gd name="adj" fmla="val 4000"/>
            </a:avLst>
          </a:prstGeom>
          <a:solidFill>
            <a:schemeClr val="bg2"/>
          </a:solidFill>
          <a:ln w="12700">
            <a:solidFill>
              <a:schemeClr val="bg2"/>
            </a:solidFill>
            <a:prstDash val="solid"/>
          </a:ln>
        </p:spPr>
      </p:sp>
      <p:sp>
        <p:nvSpPr>
          <p:cNvPr id="16" name="goal head"/>
          <p:cNvSpPr txBox="1"/>
          <p:nvPr/>
        </p:nvSpPr>
        <p:spPr>
          <a:xfrm>
            <a:off x="6080760" y="1554480"/>
            <a:ext cx="2286000" cy="365760"/>
          </a:xfrm>
          <a:prstGeom prst="rect">
            <a:avLst/>
          </a:prstGeom>
          <a:noFill/>
          <a:ln/>
        </p:spPr>
        <p:txBody>
          <a:bodyPr wrap="square" lIns="0" tIns="0" rIns="0" bIns="0" rtlCol="0" anchor="t"/>
          <a:lstStyle/>
          <a:p>
            <a:pPr indent="0" marL="0">
              <a:buNone/>
            </a:pPr>
            <a:r>
              <a:rPr lang="en-US" sz="1800" b="1" dirty="0">
                <a:solidFill>
                  <a:schemeClr val="accent1"/>
                </a:solidFill>
              </a:rPr>
              <a:t>Our aim</a:t>
            </a:r>
            <a:endParaRPr lang="en-US" sz="1800" dirty="0"/>
          </a:p>
        </p:txBody>
      </p:sp>
      <p:sp>
        <p:nvSpPr>
          <p:cNvPr id="17" name="goal text"/>
          <p:cNvSpPr txBox="1"/>
          <p:nvPr/>
        </p:nvSpPr>
        <p:spPr>
          <a:xfrm>
            <a:off x="6080760" y="2011680"/>
            <a:ext cx="2286000" cy="2377440"/>
          </a:xfrm>
          <a:prstGeom prst="rect">
            <a:avLst/>
          </a:prstGeom>
          <a:noFill/>
          <a:ln/>
        </p:spPr>
        <p:txBody>
          <a:bodyPr wrap="square" lIns="0" tIns="0" rIns="0" bIns="0" rtlCol="0" anchor="t"/>
          <a:lstStyle/>
          <a:p>
            <a:pPr indent="0" marL="0">
              <a:buNone/>
            </a:pPr>
            <a:r>
              <a:rPr lang="en-US" sz="1800" dirty="0">
                <a:solidFill>
                  <a:schemeClr val="tx1"/>
                </a:solidFill>
              </a:rPr>
              <a:t>Build the protocol, create message loss on demand, and measure what QoS 1 costs compared with QoS 0.</a:t>
            </a:r>
            <a:endParaRPr lang="en-US" sz="18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chemeClr val="tx2"/>
                </a:solidFill>
              </a:rPr>
              <a:t>Protocol design</a:t>
            </a:r>
            <a:endParaRPr lang="en-US" sz="3000" dirty="0"/>
          </a:p>
        </p:txBody>
      </p:sp>
      <p:sp>
        <p:nvSpPr>
          <p:cNvPr id="3" name="framing head"/>
          <p:cNvSpPr txBox="1"/>
          <p:nvPr/>
        </p:nvSpPr>
        <p:spPr>
          <a:xfrm>
            <a:off x="548640" y="1280160"/>
            <a:ext cx="4023360" cy="320040"/>
          </a:xfrm>
          <a:prstGeom prst="rect">
            <a:avLst/>
          </a:prstGeom>
          <a:noFill/>
          <a:ln/>
        </p:spPr>
        <p:txBody>
          <a:bodyPr wrap="square" lIns="0" tIns="0" rIns="0" bIns="0" rtlCol="0" anchor="t"/>
          <a:lstStyle/>
          <a:p>
            <a:pPr indent="0" marL="0">
              <a:buNone/>
            </a:pPr>
            <a:r>
              <a:rPr lang="en-US" sz="1800" b="1" dirty="0">
                <a:solidFill>
                  <a:schemeClr val="accent1"/>
                </a:solidFill>
              </a:rPr>
              <a:t>Framing</a:t>
            </a:r>
            <a:endParaRPr lang="en-US" sz="1800" dirty="0"/>
          </a:p>
        </p:txBody>
      </p:sp>
      <p:sp>
        <p:nvSpPr>
          <p:cNvPr id="4" name="length box"/>
          <p:cNvSpPr/>
          <p:nvPr/>
        </p:nvSpPr>
        <p:spPr>
          <a:xfrm>
            <a:off x="548640" y="1691640"/>
            <a:ext cx="1371600" cy="640080"/>
          </a:xfrm>
          <a:prstGeom prst="roundRect">
            <a:avLst>
              <a:gd name="adj" fmla="val 11429"/>
            </a:avLst>
          </a:prstGeom>
          <a:solidFill>
            <a:schemeClr val="accent1"/>
          </a:solidFill>
          <a:ln w="12700">
            <a:solidFill>
              <a:schemeClr val="accent1"/>
            </a:solidFill>
            <a:prstDash val="solid"/>
          </a:ln>
        </p:spPr>
      </p:sp>
      <p:sp>
        <p:nvSpPr>
          <p:cNvPr id="5" name="length label"/>
          <p:cNvSpPr txBox="1"/>
          <p:nvPr/>
        </p:nvSpPr>
        <p:spPr>
          <a:xfrm>
            <a:off x="548640" y="169164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4-byte length</a:t>
            </a:r>
            <a:endParaRPr lang="en-US" sz="1400" dirty="0"/>
          </a:p>
        </p:txBody>
      </p:sp>
      <p:sp>
        <p:nvSpPr>
          <p:cNvPr id="6" name="body box"/>
          <p:cNvSpPr/>
          <p:nvPr/>
        </p:nvSpPr>
        <p:spPr>
          <a:xfrm>
            <a:off x="2011680" y="1691640"/>
            <a:ext cx="2560320" cy="640080"/>
          </a:xfrm>
          <a:prstGeom prst="roundRect">
            <a:avLst>
              <a:gd name="adj" fmla="val 11429"/>
            </a:avLst>
          </a:prstGeom>
          <a:solidFill>
            <a:schemeClr val="bg2"/>
          </a:solidFill>
          <a:ln w="12700">
            <a:solidFill>
              <a:schemeClr val="accent1"/>
            </a:solidFill>
            <a:prstDash val="solid"/>
          </a:ln>
        </p:spPr>
      </p:sp>
      <p:sp>
        <p:nvSpPr>
          <p:cNvPr id="7" name="body label"/>
          <p:cNvSpPr txBox="1"/>
          <p:nvPr/>
        </p:nvSpPr>
        <p:spPr>
          <a:xfrm>
            <a:off x="2011680" y="1691640"/>
            <a:ext cx="2560320" cy="640080"/>
          </a:xfrm>
          <a:prstGeom prst="rect">
            <a:avLst/>
          </a:prstGeom>
          <a:noFill/>
          <a:ln/>
        </p:spPr>
        <p:txBody>
          <a:bodyPr wrap="square" lIns="0" tIns="0" rIns="0" bIns="0" rtlCol="0" anchor="ctr"/>
          <a:lstStyle/>
          <a:p>
            <a:pPr algn="ctr" indent="0" marL="0">
              <a:buNone/>
            </a:pPr>
            <a:r>
              <a:rPr lang="en-US" sz="1400" b="1" dirty="0">
                <a:solidFill>
                  <a:schemeClr val="tx2"/>
                </a:solidFill>
              </a:rPr>
              <a:t>JSON body</a:t>
            </a:r>
            <a:endParaRPr lang="en-US" sz="1400" dirty="0"/>
          </a:p>
        </p:txBody>
      </p:sp>
      <p:sp>
        <p:nvSpPr>
          <p:cNvPr id="8" name="framing text"/>
          <p:cNvSpPr txBox="1"/>
          <p:nvPr/>
        </p:nvSpPr>
        <p:spPr>
          <a:xfrm>
            <a:off x="548640" y="2468880"/>
            <a:ext cx="4023360" cy="731520"/>
          </a:xfrm>
          <a:prstGeom prst="rect">
            <a:avLst/>
          </a:prstGeom>
          <a:noFill/>
          <a:ln/>
        </p:spPr>
        <p:txBody>
          <a:bodyPr wrap="square" lIns="0" tIns="0" rIns="0" bIns="0" rtlCol="0" anchor="t"/>
          <a:lstStyle/>
          <a:p>
            <a:pPr indent="0" marL="0">
              <a:buNone/>
            </a:pPr>
            <a:r>
              <a:rPr lang="en-US" sz="1400" dirty="0">
                <a:solidFill>
                  <a:schemeClr val="tx1"/>
                </a:solidFill>
              </a:rPr>
              <a:t>TCP has no message boundaries, so the receiver reads 4 bytes, then exactly that many more.</a:t>
            </a:r>
            <a:endParaRPr lang="en-US" sz="1400" dirty="0"/>
          </a:p>
        </p:txBody>
      </p:sp>
      <p:sp>
        <p:nvSpPr>
          <p:cNvPr id="9" name="wild head"/>
          <p:cNvSpPr txBox="1"/>
          <p:nvPr/>
        </p:nvSpPr>
        <p:spPr>
          <a:xfrm>
            <a:off x="548640" y="3291840"/>
            <a:ext cx="4023360" cy="320040"/>
          </a:xfrm>
          <a:prstGeom prst="rect">
            <a:avLst/>
          </a:prstGeom>
          <a:noFill/>
          <a:ln/>
        </p:spPr>
        <p:txBody>
          <a:bodyPr wrap="square" lIns="0" tIns="0" rIns="0" bIns="0" rtlCol="0" anchor="t"/>
          <a:lstStyle/>
          <a:p>
            <a:pPr indent="0" marL="0">
              <a:buNone/>
            </a:pPr>
            <a:r>
              <a:rPr lang="en-US" sz="1800" b="1" dirty="0">
                <a:solidFill>
                  <a:schemeClr val="accent1"/>
                </a:solidFill>
              </a:rPr>
              <a:t>Wildcards</a:t>
            </a:r>
            <a:endParaRPr lang="en-US" sz="1800" dirty="0"/>
          </a:p>
        </p:txBody>
      </p:sp>
      <p:sp>
        <p:nvSpPr>
          <p:cNvPr id="10" name="wild text"/>
          <p:cNvSpPr txBox="1"/>
          <p:nvPr/>
        </p:nvSpPr>
        <p:spPr>
          <a:xfrm>
            <a:off x="548640" y="3657600"/>
            <a:ext cx="4023360" cy="73152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rPr>
              <a:t>+</a:t>
            </a:r>
            <a:pPr indent="0" marL="0">
              <a:spcAft>
                <a:spcPts val="600"/>
              </a:spcAft>
              <a:buNone/>
            </a:pPr>
            <a:r>
              <a:rPr lang="en-US" sz="1400" dirty="0">
                <a:solidFill>
                  <a:schemeClr val="tx1"/>
                </a:solidFill>
              </a:rPr>
              <a:t>  one level: sensor/+/temp</a:t>
            </a:r>
            <a:endParaRPr lang="en-US" sz="1400" dirty="0"/>
          </a:p>
          <a:p>
            <a:pPr indent="0" marL="0">
              <a:spcAft>
                <a:spcPts val="600"/>
              </a:spcAft>
              <a:buNone/>
            </a:pPr>
            <a:r>
              <a:rPr lang="en-US" sz="1400" b="1" dirty="0">
                <a:solidFill>
                  <a:schemeClr val="tx1"/>
                </a:solidFill>
              </a:rPr>
              <a:t>#</a:t>
            </a:r>
            <a:pPr indent="0" marL="0">
              <a:spcAft>
                <a:spcPts val="600"/>
              </a:spcAft>
              <a:buNone/>
            </a:pPr>
            <a:r>
              <a:rPr lang="en-US" sz="1400" dirty="0">
                <a:solidFill>
                  <a:schemeClr val="tx1"/>
                </a:solidFill>
              </a:rPr>
              <a:t>  all below: sensor/#</a:t>
            </a:r>
            <a:endParaRPr lang="en-US" sz="1400" dirty="0"/>
          </a:p>
        </p:txBody>
      </p:sp>
      <p:sp>
        <p:nvSpPr>
          <p:cNvPr id="11" name="types head"/>
          <p:cNvSpPr txBox="1"/>
          <p:nvPr/>
        </p:nvSpPr>
        <p:spPr>
          <a:xfrm>
            <a:off x="4937760" y="1280160"/>
            <a:ext cx="3657600" cy="320040"/>
          </a:xfrm>
          <a:prstGeom prst="rect">
            <a:avLst/>
          </a:prstGeom>
          <a:noFill/>
          <a:ln/>
        </p:spPr>
        <p:txBody>
          <a:bodyPr wrap="square" lIns="0" tIns="0" rIns="0" bIns="0" rtlCol="0" anchor="t"/>
          <a:lstStyle/>
          <a:p>
            <a:pPr indent="0" marL="0">
              <a:buNone/>
            </a:pPr>
            <a:r>
              <a:rPr lang="en-US" sz="1800" b="1" dirty="0">
                <a:solidFill>
                  <a:schemeClr val="accent1"/>
                </a:solidFill>
              </a:rPr>
              <a:t>Message types</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691640"/>
          <a:ext cx="3657600" cy="914400"/>
        </p:xfrm>
        <a:graphic>
          <a:graphicData uri="http://schemas.openxmlformats.org/drawingml/2006/table">
            <a:tbl>
              <a:tblPr/>
              <a:tblGrid>
                <a:gridCol w="1737360"/>
                <a:gridCol w="1920240"/>
              </a:tblGrid>
              <a:tr h="329184">
                <a:tc>
                  <a:txBody>
                    <a:bodyPr/>
                    <a:lstStyle/>
                    <a:p>
                      <a:pPr indent="0" marL="0">
                        <a:buNone/>
                      </a:pPr>
                      <a:r>
                        <a:rPr lang="en-US" sz="1200" b="1" dirty="0">
                          <a:solidFill>
                            <a:srgbClr val="FFFFFF"/>
                          </a:solidFill>
                        </a:rPr>
                        <a:t>Type</a:t>
                      </a:r>
                      <a:endParaRPr lang="en-US" sz="1200" dirty="0"/>
                    </a:p>
                  </a:txBody>
                  <a:tcPr marL="73152" marR="73152" marT="27432" marB="27432"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16324F"/>
                    </a:solidFill>
                  </a:tcPr>
                </a:tc>
                <a:tc>
                  <a:txBody>
                    <a:bodyPr/>
                    <a:lstStyle/>
                    <a:p>
                      <a:pPr indent="0" marL="0">
                        <a:buNone/>
                      </a:pPr>
                      <a:r>
                        <a:rPr lang="en-US" sz="1200" b="1" dirty="0">
                          <a:solidFill>
                            <a:srgbClr val="FFFFFF"/>
                          </a:solidFill>
                        </a:rPr>
                        <a:t>Purpose</a:t>
                      </a:r>
                      <a:endParaRPr lang="en-US" sz="1200" dirty="0"/>
                    </a:p>
                  </a:txBody>
                  <a:tcPr marL="73152" marR="73152" marT="27432" marB="27432"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solidFill>
                      <a:srgbClr val="16324F"/>
                    </a:solidFill>
                  </a:tcPr>
                </a:tc>
              </a:tr>
              <a:tr h="329184">
                <a:tc>
                  <a:txBody>
                    <a:bodyPr/>
                    <a:lstStyle/>
                    <a:p>
                      <a:pPr indent="0" marL="0">
                        <a:buNone/>
                      </a:pPr>
                      <a:r>
                        <a:rPr lang="en-US" sz="1200" b="1" dirty="0">
                          <a:solidFill>
                            <a:srgbClr val="1F2933"/>
                          </a:solidFill>
                        </a:rPr>
                        <a:t>CONNECT, CONNACK</a:t>
                      </a:r>
                      <a:endParaRPr lang="en-US" sz="1200" dirty="0"/>
                    </a:p>
                  </a:txBody>
                  <a:tcPr marL="73152" marR="73152" marT="27432" marB="27432"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tcPr>
                </a:tc>
                <a:tc>
                  <a:txBody>
                    <a:bodyPr/>
                    <a:lstStyle/>
                    <a:p>
                      <a:pPr indent="0" marL="0">
                        <a:buNone/>
                      </a:pPr>
                      <a:r>
                        <a:rPr lang="en-US" sz="1200" dirty="0">
                          <a:solidFill>
                            <a:srgbClr val="1F2933"/>
                          </a:solidFill>
                        </a:rPr>
                        <a:t>Open a session</a:t>
                      </a:r>
                      <a:endParaRPr lang="en-US" sz="1200" dirty="0"/>
                    </a:p>
                  </a:txBody>
                  <a:tcPr marL="73152" marR="73152" marT="27432" marB="27432"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tcPr>
                </a:tc>
              </a:tr>
              <a:tr h="329184">
                <a:tc>
                  <a:txBody>
                    <a:bodyPr/>
                    <a:lstStyle/>
                    <a:p>
                      <a:pPr indent="0" marL="0">
                        <a:buNone/>
                      </a:pPr>
                      <a:r>
                        <a:rPr lang="en-US" sz="1200" b="1" dirty="0">
                          <a:solidFill>
                            <a:srgbClr val="1F2933"/>
                          </a:solidFill>
                        </a:rPr>
                        <a:t>SUBSCRIBE, SUBACK</a:t>
                      </a:r>
                      <a:endParaRPr lang="en-US" sz="1200" dirty="0"/>
                    </a:p>
                  </a:txBody>
                  <a:tcPr marL="73152" marR="73152" marT="27432" marB="27432"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tcPr>
                </a:tc>
                <a:tc>
                  <a:txBody>
                    <a:bodyPr/>
                    <a:lstStyle/>
                    <a:p>
                      <a:pPr indent="0" marL="0">
                        <a:buNone/>
                      </a:pPr>
                      <a:r>
                        <a:rPr lang="en-US" sz="1200" dirty="0">
                          <a:solidFill>
                            <a:srgbClr val="1F2933"/>
                          </a:solidFill>
                        </a:rPr>
                        <a:t>Register a topic filter</a:t>
                      </a:r>
                      <a:endParaRPr lang="en-US" sz="1200" dirty="0"/>
                    </a:p>
                  </a:txBody>
                  <a:tcPr marL="73152" marR="73152" marT="27432" marB="27432"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tcPr>
                </a:tc>
              </a:tr>
              <a:tr h="329184">
                <a:tc>
                  <a:txBody>
                    <a:bodyPr/>
                    <a:lstStyle/>
                    <a:p>
                      <a:pPr indent="0" marL="0">
                        <a:buNone/>
                      </a:pPr>
                      <a:r>
                        <a:rPr lang="en-US" sz="1200" b="1" dirty="0">
                          <a:solidFill>
                            <a:srgbClr val="1F2933"/>
                          </a:solidFill>
                        </a:rPr>
                        <a:t>PUBLISH</a:t>
                      </a:r>
                      <a:endParaRPr lang="en-US" sz="1200" dirty="0"/>
                    </a:p>
                  </a:txBody>
                  <a:tcPr marL="73152" marR="73152" marT="27432" marB="27432"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tcPr>
                </a:tc>
                <a:tc>
                  <a:txBody>
                    <a:bodyPr/>
                    <a:lstStyle/>
                    <a:p>
                      <a:pPr indent="0" marL="0">
                        <a:buNone/>
                      </a:pPr>
                      <a:r>
                        <a:rPr lang="en-US" sz="1200" dirty="0">
                          <a:solidFill>
                            <a:srgbClr val="1F2933"/>
                          </a:solidFill>
                        </a:rPr>
                        <a:t>Carry a message</a:t>
                      </a:r>
                      <a:endParaRPr lang="en-US" sz="1200" dirty="0"/>
                    </a:p>
                  </a:txBody>
                  <a:tcPr marL="73152" marR="73152" marT="27432" marB="27432"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tcPr>
                </a:tc>
              </a:tr>
              <a:tr h="329184">
                <a:tc>
                  <a:txBody>
                    <a:bodyPr/>
                    <a:lstStyle/>
                    <a:p>
                      <a:pPr indent="0" marL="0">
                        <a:buNone/>
                      </a:pPr>
                      <a:r>
                        <a:rPr lang="en-US" sz="1200" b="1" dirty="0">
                          <a:solidFill>
                            <a:srgbClr val="1F2933"/>
                          </a:solidFill>
                        </a:rPr>
                        <a:t>PUBACK</a:t>
                      </a:r>
                      <a:endParaRPr lang="en-US" sz="1200" dirty="0"/>
                    </a:p>
                  </a:txBody>
                  <a:tcPr marL="73152" marR="73152" marT="27432" marB="27432"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tcPr>
                </a:tc>
                <a:tc>
                  <a:txBody>
                    <a:bodyPr/>
                    <a:lstStyle/>
                    <a:p>
                      <a:pPr indent="0" marL="0">
                        <a:buNone/>
                      </a:pPr>
                      <a:r>
                        <a:rPr lang="en-US" sz="1200" dirty="0">
                          <a:solidFill>
                            <a:srgbClr val="1F2933"/>
                          </a:solidFill>
                        </a:rPr>
                        <a:t>Acknowledge QoS 1</a:t>
                      </a:r>
                      <a:endParaRPr lang="en-US" sz="1200" dirty="0"/>
                    </a:p>
                  </a:txBody>
                  <a:tcPr marL="73152" marR="73152" marT="27432" marB="27432"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tcPr>
                </a:tc>
              </a:tr>
              <a:tr h="329184">
                <a:tc>
                  <a:txBody>
                    <a:bodyPr/>
                    <a:lstStyle/>
                    <a:p>
                      <a:pPr indent="0" marL="0">
                        <a:buNone/>
                      </a:pPr>
                      <a:r>
                        <a:rPr lang="en-US" sz="1200" b="1" dirty="0">
                          <a:solidFill>
                            <a:srgbClr val="1F2933"/>
                          </a:solidFill>
                        </a:rPr>
                        <a:t>STATS</a:t>
                      </a:r>
                      <a:endParaRPr lang="en-US" sz="1200" dirty="0"/>
                    </a:p>
                  </a:txBody>
                  <a:tcPr marL="73152" marR="73152" marT="27432" marB="27432"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tcPr>
                </a:tc>
                <a:tc>
                  <a:txBody>
                    <a:bodyPr/>
                    <a:lstStyle/>
                    <a:p>
                      <a:pPr indent="0" marL="0">
                        <a:buNone/>
                      </a:pPr>
                      <a:r>
                        <a:rPr lang="en-US" sz="1200" dirty="0">
                          <a:solidFill>
                            <a:srgbClr val="1F2933"/>
                          </a:solidFill>
                        </a:rPr>
                        <a:t>Read broker counters</a:t>
                      </a:r>
                      <a:endParaRPr lang="en-US" sz="1200" dirty="0"/>
                    </a:p>
                  </a:txBody>
                  <a:tcPr marL="73152" marR="73152" marT="27432" marB="27432" anchor="ctr">
                    <a:lnL w="6350" cap="flat" cmpd="sng" algn="ctr">
                      <a:solidFill>
                        <a:srgbClr val="D5DEE2"/>
                      </a:solidFill>
                      <a:prstDash val="solid"/>
                      <a:round/>
                      <a:headEnd type="none" w="med" len="med"/>
                      <a:tailEnd type="none" w="med" len="med"/>
                    </a:lnL>
                    <a:lnR w="6350" cap="flat" cmpd="sng" algn="ctr">
                      <a:solidFill>
                        <a:srgbClr val="D5DEE2"/>
                      </a:solidFill>
                      <a:prstDash val="solid"/>
                      <a:round/>
                      <a:headEnd type="none" w="med" len="med"/>
                      <a:tailEnd type="none" w="med" len="med"/>
                    </a:lnR>
                    <a:lnT w="6350" cap="flat" cmpd="sng" algn="ctr">
                      <a:solidFill>
                        <a:srgbClr val="D5DEE2"/>
                      </a:solidFill>
                      <a:prstDash val="solid"/>
                      <a:round/>
                      <a:headEnd type="none" w="med" len="med"/>
                      <a:tailEnd type="none" w="med" len="med"/>
                    </a:lnT>
                    <a:lnB w="6350" cap="flat" cmpd="sng" algn="ctr">
                      <a:solidFill>
                        <a:srgbClr val="D5DEE2"/>
                      </a:solidFill>
                      <a:prstDash val="solid"/>
                      <a:round/>
                      <a:headEnd type="none" w="med" len="med"/>
                      <a:tailEnd type="none" w="med" len="med"/>
                    </a:lnB>
                  </a:tcPr>
                </a:tc>
              </a:tr>
            </a:tbl>
          </a:graphicData>
        </a:graphic>
      </p:graphicFrame>
      <p:sp>
        <p:nvSpPr>
          <p:cNvPr id="13" name="retained card"/>
          <p:cNvSpPr/>
          <p:nvPr/>
        </p:nvSpPr>
        <p:spPr>
          <a:xfrm>
            <a:off x="4937760" y="3794760"/>
            <a:ext cx="3657600" cy="777240"/>
          </a:xfrm>
          <a:prstGeom prst="roundRect">
            <a:avLst>
              <a:gd name="adj" fmla="val 14118"/>
            </a:avLst>
          </a:prstGeom>
          <a:solidFill>
            <a:schemeClr val="bg2"/>
          </a:solidFill>
          <a:ln w="12700">
            <a:solidFill>
              <a:schemeClr val="bg2"/>
            </a:solidFill>
            <a:prstDash val="solid"/>
          </a:ln>
        </p:spPr>
      </p:sp>
      <p:sp>
        <p:nvSpPr>
          <p:cNvPr id="14" name="retained text"/>
          <p:cNvSpPr txBox="1"/>
          <p:nvPr/>
        </p:nvSpPr>
        <p:spPr>
          <a:xfrm>
            <a:off x="5074920" y="3858768"/>
            <a:ext cx="3383280" cy="658368"/>
          </a:xfrm>
          <a:prstGeom prst="rect">
            <a:avLst/>
          </a:prstGeom>
          <a:noFill/>
          <a:ln/>
        </p:spPr>
        <p:txBody>
          <a:bodyPr wrap="square" lIns="0" tIns="0" rIns="0" bIns="0" rtlCol="0" anchor="ctr"/>
          <a:lstStyle/>
          <a:p>
            <a:pPr indent="0" marL="0">
              <a:buNone/>
            </a:pPr>
            <a:r>
              <a:rPr lang="en-US" sz="1300" dirty="0">
                <a:solidFill>
                  <a:schemeClr val="tx1"/>
                </a:solidFill>
              </a:rPr>
              <a:t>Retained messages: the broker keeps the last one per topic and gives it to new subscribers at once.</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chemeClr val="tx2"/>
                </a:solidFill>
              </a:rPr>
              <a:t>System architecture</a:t>
            </a:r>
            <a:endParaRPr lang="en-US" sz="3000" dirty="0"/>
          </a:p>
        </p:txBody>
      </p:sp>
      <p:pic>
        <p:nvPicPr>
          <p:cNvPr id="3" name="architecture diagram" descr="Clients connect to the broker directly or through the lossy proxy">    </p:cNvPr>
          <p:cNvPicPr>
            <a:picLocks noChangeAspect="1"/>
          </p:cNvPicPr>
          <p:nvPr/>
        </p:nvPicPr>
        <p:blipFill>
          <a:blip r:embed="rId1"/>
          <a:stretch>
            <a:fillRect/>
          </a:stretch>
        </p:blipFill>
        <p:spPr>
          <a:xfrm>
            <a:off x="457200" y="1458446"/>
            <a:ext cx="5852160" cy="3026707"/>
          </a:xfrm>
          <a:prstGeom prst="rect">
            <a:avLst/>
          </a:prstGeom>
        </p:spPr>
      </p:pic>
      <p:sp>
        <p:nvSpPr>
          <p:cNvPr id="4" name="badge 1"/>
          <p:cNvSpPr/>
          <p:nvPr/>
        </p:nvSpPr>
        <p:spPr>
          <a:xfrm>
            <a:off x="6492240" y="1371600"/>
            <a:ext cx="365760" cy="365760"/>
          </a:xfrm>
          <a:prstGeom prst="ellipse">
            <a:avLst/>
          </a:prstGeom>
          <a:solidFill>
            <a:schemeClr val="accent1"/>
          </a:solidFill>
          <a:ln w="12700">
            <a:solidFill>
              <a:schemeClr val="accent1"/>
            </a:solidFill>
            <a:prstDash val="solid"/>
          </a:ln>
        </p:spPr>
      </p:sp>
      <p:sp>
        <p:nvSpPr>
          <p:cNvPr id="5" name="badge text 1"/>
          <p:cNvSpPr txBox="1"/>
          <p:nvPr/>
        </p:nvSpPr>
        <p:spPr>
          <a:xfrm>
            <a:off x="6492240" y="1371600"/>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arch note 0"/>
          <p:cNvSpPr txBox="1"/>
          <p:nvPr/>
        </p:nvSpPr>
        <p:spPr>
          <a:xfrm>
            <a:off x="6995160" y="1353312"/>
            <a:ext cx="1691640" cy="1005840"/>
          </a:xfrm>
          <a:prstGeom prst="rect">
            <a:avLst/>
          </a:prstGeom>
          <a:noFill/>
          <a:ln/>
        </p:spPr>
        <p:txBody>
          <a:bodyPr wrap="square" lIns="0" tIns="0" rIns="0" bIns="0" rtlCol="0" anchor="t"/>
          <a:lstStyle/>
          <a:p>
            <a:pPr indent="0" marL="0">
              <a:buNone/>
            </a:pPr>
            <a:r>
              <a:rPr lang="en-US" sz="1300" dirty="0">
                <a:solidFill>
                  <a:schemeClr val="tx1"/>
                </a:solidFill>
              </a:rPr>
              <a:t>The proxy drops whole PUBLISH and PUBACK frames, never raw bytes.</a:t>
            </a:r>
            <a:endParaRPr lang="en-US" sz="1300" dirty="0"/>
          </a:p>
        </p:txBody>
      </p:sp>
      <p:sp>
        <p:nvSpPr>
          <p:cNvPr id="7" name="badge 2"/>
          <p:cNvSpPr/>
          <p:nvPr/>
        </p:nvSpPr>
        <p:spPr>
          <a:xfrm>
            <a:off x="6492240" y="2560320"/>
            <a:ext cx="365760" cy="365760"/>
          </a:xfrm>
          <a:prstGeom prst="ellipse">
            <a:avLst/>
          </a:prstGeom>
          <a:solidFill>
            <a:schemeClr val="accent1"/>
          </a:solidFill>
          <a:ln w="12700">
            <a:solidFill>
              <a:schemeClr val="accent1"/>
            </a:solidFill>
            <a:prstDash val="solid"/>
          </a:ln>
        </p:spPr>
      </p:sp>
      <p:sp>
        <p:nvSpPr>
          <p:cNvPr id="8" name="badge text 2"/>
          <p:cNvSpPr txBox="1"/>
          <p:nvPr/>
        </p:nvSpPr>
        <p:spPr>
          <a:xfrm>
            <a:off x="6492240" y="2560320"/>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arch note 1"/>
          <p:cNvSpPr txBox="1"/>
          <p:nvPr/>
        </p:nvSpPr>
        <p:spPr>
          <a:xfrm>
            <a:off x="6995160" y="2542032"/>
            <a:ext cx="1691640" cy="1005840"/>
          </a:xfrm>
          <a:prstGeom prst="rect">
            <a:avLst/>
          </a:prstGeom>
          <a:noFill/>
          <a:ln/>
        </p:spPr>
        <p:txBody>
          <a:bodyPr wrap="square" lIns="0" tIns="0" rIns="0" bIns="0" rtlCol="0" anchor="t"/>
          <a:lstStyle/>
          <a:p>
            <a:pPr indent="0" marL="0">
              <a:buNone/>
            </a:pPr>
            <a:r>
              <a:rPr lang="en-US" sz="1300" dirty="0">
                <a:solidFill>
                  <a:schemeClr val="tx1"/>
                </a:solidFill>
              </a:rPr>
              <a:t>A monitor client reads STATS straight from the broker.</a:t>
            </a:r>
            <a:endParaRPr lang="en-US" sz="1300" dirty="0"/>
          </a:p>
        </p:txBody>
      </p:sp>
      <p:sp>
        <p:nvSpPr>
          <p:cNvPr id="10" name="badge 3"/>
          <p:cNvSpPr/>
          <p:nvPr/>
        </p:nvSpPr>
        <p:spPr>
          <a:xfrm>
            <a:off x="6492240" y="3657600"/>
            <a:ext cx="365760" cy="365760"/>
          </a:xfrm>
          <a:prstGeom prst="ellipse">
            <a:avLst/>
          </a:prstGeom>
          <a:solidFill>
            <a:schemeClr val="accent1"/>
          </a:solidFill>
          <a:ln w="12700">
            <a:solidFill>
              <a:schemeClr val="accent1"/>
            </a:solidFill>
            <a:prstDash val="solid"/>
          </a:ln>
        </p:spPr>
      </p:sp>
      <p:sp>
        <p:nvSpPr>
          <p:cNvPr id="11" name="badge text 3"/>
          <p:cNvSpPr txBox="1"/>
          <p:nvPr/>
        </p:nvSpPr>
        <p:spPr>
          <a:xfrm>
            <a:off x="6492240" y="3657600"/>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arch note 2"/>
          <p:cNvSpPr txBox="1"/>
          <p:nvPr/>
        </p:nvSpPr>
        <p:spPr>
          <a:xfrm>
            <a:off x="6995160" y="3639312"/>
            <a:ext cx="1691640" cy="1005840"/>
          </a:xfrm>
          <a:prstGeom prst="rect">
            <a:avLst/>
          </a:prstGeom>
          <a:noFill/>
          <a:ln/>
        </p:spPr>
        <p:txBody>
          <a:bodyPr wrap="square" lIns="0" tIns="0" rIns="0" bIns="0" rtlCol="0" anchor="t"/>
          <a:lstStyle/>
          <a:p>
            <a:pPr indent="0" marL="0">
              <a:buNone/>
            </a:pPr>
            <a:r>
              <a:rPr lang="en-US" sz="1300" dirty="0">
                <a:solidFill>
                  <a:schemeClr val="tx1"/>
                </a:solidFill>
              </a:rPr>
              <a:t>All broker state is in memory.</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chemeClr val="tx2"/>
                </a:solidFill>
              </a:rPr>
              <a:t>QoS 0 and QoS 1</a:t>
            </a:r>
            <a:endParaRPr lang="en-US" sz="3000" dirty="0"/>
          </a:p>
        </p:txBody>
      </p:sp>
      <p:sp>
        <p:nvSpPr>
          <p:cNvPr id="3" name="qos0 card"/>
          <p:cNvSpPr/>
          <p:nvPr/>
        </p:nvSpPr>
        <p:spPr>
          <a:xfrm>
            <a:off x="548640" y="1371600"/>
            <a:ext cx="3383280" cy="1325880"/>
          </a:xfrm>
          <a:prstGeom prst="roundRect">
            <a:avLst>
              <a:gd name="adj" fmla="val 8276"/>
            </a:avLst>
          </a:prstGeom>
          <a:solidFill>
            <a:schemeClr val="bg2"/>
          </a:solidFill>
          <a:ln w="12700">
            <a:solidFill>
              <a:schemeClr val="bg2"/>
            </a:solidFill>
            <a:prstDash val="solid"/>
          </a:ln>
        </p:spPr>
      </p:sp>
      <p:sp>
        <p:nvSpPr>
          <p:cNvPr id="4" name="qos0 head"/>
          <p:cNvSpPr txBox="1"/>
          <p:nvPr/>
        </p:nvSpPr>
        <p:spPr>
          <a:xfrm>
            <a:off x="731520" y="1481328"/>
            <a:ext cx="3017520" cy="320040"/>
          </a:xfrm>
          <a:prstGeom prst="rect">
            <a:avLst/>
          </a:prstGeom>
          <a:noFill/>
          <a:ln/>
        </p:spPr>
        <p:txBody>
          <a:bodyPr wrap="square" lIns="0" tIns="0" rIns="0" bIns="0" rtlCol="0" anchor="t"/>
          <a:lstStyle/>
          <a:p>
            <a:pPr indent="0" marL="0">
              <a:buNone/>
            </a:pPr>
            <a:r>
              <a:rPr lang="en-US" sz="1600" b="1" dirty="0">
                <a:solidFill>
                  <a:schemeClr val="tx2"/>
                </a:solidFill>
              </a:rPr>
              <a:t>QoS 0: at most once</a:t>
            </a:r>
            <a:endParaRPr lang="en-US" sz="1600" dirty="0"/>
          </a:p>
        </p:txBody>
      </p:sp>
      <p:sp>
        <p:nvSpPr>
          <p:cNvPr id="5" name="qos0 text"/>
          <p:cNvSpPr txBox="1"/>
          <p:nvPr/>
        </p:nvSpPr>
        <p:spPr>
          <a:xfrm>
            <a:off x="731520" y="1874520"/>
            <a:ext cx="3017520" cy="731520"/>
          </a:xfrm>
          <a:prstGeom prst="rect">
            <a:avLst/>
          </a:prstGeom>
          <a:noFill/>
          <a:ln/>
        </p:spPr>
        <p:txBody>
          <a:bodyPr wrap="square" lIns="0" tIns="0" rIns="0" bIns="0" rtlCol="0" anchor="t"/>
          <a:lstStyle/>
          <a:p>
            <a:pPr indent="0" marL="0">
              <a:buNone/>
            </a:pPr>
            <a:r>
              <a:rPr lang="en-US" sz="1400" dirty="0">
                <a:solidFill>
                  <a:schemeClr val="tx1"/>
                </a:solidFill>
              </a:rPr>
              <a:t>Send once, do not check. A lost message stays lost.</a:t>
            </a:r>
            <a:endParaRPr lang="en-US" sz="1400" dirty="0"/>
          </a:p>
        </p:txBody>
      </p:sp>
      <p:sp>
        <p:nvSpPr>
          <p:cNvPr id="6" name="qos1 card"/>
          <p:cNvSpPr/>
          <p:nvPr/>
        </p:nvSpPr>
        <p:spPr>
          <a:xfrm>
            <a:off x="548640" y="2880360"/>
            <a:ext cx="3383280" cy="1783080"/>
          </a:xfrm>
          <a:prstGeom prst="roundRect">
            <a:avLst>
              <a:gd name="adj" fmla="val 6154"/>
            </a:avLst>
          </a:prstGeom>
          <a:solidFill>
            <a:schemeClr val="bg2"/>
          </a:solidFill>
          <a:ln w="12700">
            <a:solidFill>
              <a:schemeClr val="bg2"/>
            </a:solidFill>
            <a:prstDash val="solid"/>
          </a:ln>
        </p:spPr>
      </p:sp>
      <p:sp>
        <p:nvSpPr>
          <p:cNvPr id="7" name="qos1 head"/>
          <p:cNvSpPr txBox="1"/>
          <p:nvPr/>
        </p:nvSpPr>
        <p:spPr>
          <a:xfrm>
            <a:off x="731520" y="2990088"/>
            <a:ext cx="3017520" cy="320040"/>
          </a:xfrm>
          <a:prstGeom prst="rect">
            <a:avLst/>
          </a:prstGeom>
          <a:noFill/>
          <a:ln/>
        </p:spPr>
        <p:txBody>
          <a:bodyPr wrap="square" lIns="0" tIns="0" rIns="0" bIns="0" rtlCol="0" anchor="t"/>
          <a:lstStyle/>
          <a:p>
            <a:pPr indent="0" marL="0">
              <a:buNone/>
            </a:pPr>
            <a:r>
              <a:rPr lang="en-US" sz="1600" b="1" dirty="0">
                <a:solidFill>
                  <a:schemeClr val="accent1"/>
                </a:solidFill>
              </a:rPr>
              <a:t>QoS 1: at least once</a:t>
            </a:r>
            <a:endParaRPr lang="en-US" sz="1600" dirty="0"/>
          </a:p>
        </p:txBody>
      </p:sp>
      <p:sp>
        <p:nvSpPr>
          <p:cNvPr id="8" name="qos1 text"/>
          <p:cNvSpPr txBox="1"/>
          <p:nvPr/>
        </p:nvSpPr>
        <p:spPr>
          <a:xfrm>
            <a:off x="731520" y="3383280"/>
            <a:ext cx="3017520" cy="1188720"/>
          </a:xfrm>
          <a:prstGeom prst="rect">
            <a:avLst/>
          </a:prstGeom>
          <a:noFill/>
          <a:ln/>
        </p:spPr>
        <p:txBody>
          <a:bodyPr wrap="square" lIns="0" tIns="0" rIns="0" bIns="0" rtlCol="0" anchor="t"/>
          <a:lstStyle/>
          <a:p>
            <a:pPr indent="0" marL="0">
              <a:buNone/>
            </a:pPr>
            <a:r>
              <a:rPr lang="en-US" sz="1400" dirty="0">
                <a:solidFill>
                  <a:schemeClr val="tx1"/>
                </a:solidFill>
              </a:rPr>
              <a:t>PUBACK required. Retry every 0.2 s, up to 5 times. Duplicates are possible and are filtered by id.</a:t>
            </a:r>
            <a:endParaRPr lang="en-US" sz="1400" dirty="0"/>
          </a:p>
        </p:txBody>
      </p:sp>
      <p:pic>
        <p:nvPicPr>
          <p:cNvPr id="9" name="qos1 sequence" descr="QoS 1 exchange with a lost PUBACK on each hop">    </p:cNvPr>
          <p:cNvPicPr>
            <a:picLocks noChangeAspect="1"/>
          </p:cNvPicPr>
          <p:nvPr/>
        </p:nvPicPr>
        <p:blipFill>
          <a:blip r:embed="rId1"/>
          <a:stretch>
            <a:fillRect/>
          </a:stretch>
        </p:blipFill>
        <p:spPr>
          <a:xfrm>
            <a:off x="4160520" y="1311575"/>
            <a:ext cx="4526280" cy="3137570"/>
          </a:xfrm>
          <a:prstGeom prst="rect">
            <a:avLst/>
          </a:prstGeom>
        </p:spPr>
      </p:pic>
      <p:sp>
        <p:nvSpPr>
          <p:cNvPr id="10" name="qos1 caption"/>
          <p:cNvSpPr txBox="1"/>
          <p:nvPr/>
        </p:nvSpPr>
        <p:spPr>
          <a:xfrm>
            <a:off x="4160520" y="4498848"/>
            <a:ext cx="4526280" cy="274320"/>
          </a:xfrm>
          <a:prstGeom prst="rect">
            <a:avLst/>
          </a:prstGeom>
          <a:noFill/>
          <a:ln/>
        </p:spPr>
        <p:txBody>
          <a:bodyPr wrap="square" lIns="0" tIns="0" rIns="0" bIns="0" rtlCol="0" anchor="t"/>
          <a:lstStyle/>
          <a:p>
            <a:pPr algn="ctr" indent="0" marL="0">
              <a:buNone/>
            </a:pPr>
            <a:r>
              <a:rPr lang="en-US" sz="1200" dirty="0">
                <a:solidFill>
                  <a:schemeClr val="accent4"/>
                </a:solidFill>
              </a:rPr>
              <a:t>A lost PUBACK on each hop causes a retry</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chemeClr val="tx2"/>
                </a:solidFill>
              </a:rPr>
              <a:t>Experiment setup</a:t>
            </a:r>
            <a:endParaRPr lang="en-US" sz="3000" dirty="0"/>
          </a:p>
        </p:txBody>
      </p:sp>
      <p:sp>
        <p:nvSpPr>
          <p:cNvPr id="3" name="stat card 0"/>
          <p:cNvSpPr/>
          <p:nvPr/>
        </p:nvSpPr>
        <p:spPr>
          <a:xfrm>
            <a:off x="548640" y="1371600"/>
            <a:ext cx="1874520" cy="1645920"/>
          </a:xfrm>
          <a:prstGeom prst="roundRect">
            <a:avLst>
              <a:gd name="adj" fmla="val 6667"/>
            </a:avLst>
          </a:prstGeom>
          <a:solidFill>
            <a:schemeClr val="bg2"/>
          </a:solidFill>
          <a:ln w="12700">
            <a:solidFill>
              <a:schemeClr val="bg2"/>
            </a:solidFill>
            <a:prstDash val="solid"/>
          </a:ln>
        </p:spPr>
      </p:sp>
      <p:sp>
        <p:nvSpPr>
          <p:cNvPr id="4" name="stat number 0"/>
          <p:cNvSpPr txBox="1"/>
          <p:nvPr/>
        </p:nvSpPr>
        <p:spPr>
          <a:xfrm>
            <a:off x="548640" y="1508760"/>
            <a:ext cx="1874520" cy="86868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300</a:t>
            </a:r>
            <a:endParaRPr lang="en-US" sz="5400" dirty="0"/>
          </a:p>
        </p:txBody>
      </p:sp>
      <p:sp>
        <p:nvSpPr>
          <p:cNvPr id="5" name="stat label 0"/>
          <p:cNvSpPr txBox="1"/>
          <p:nvPr/>
        </p:nvSpPr>
        <p:spPr>
          <a:xfrm>
            <a:off x="640080" y="2468880"/>
            <a:ext cx="1691640" cy="457200"/>
          </a:xfrm>
          <a:prstGeom prst="rect">
            <a:avLst/>
          </a:prstGeom>
          <a:noFill/>
          <a:ln/>
        </p:spPr>
        <p:txBody>
          <a:bodyPr wrap="square" lIns="0" tIns="0" rIns="0" bIns="0" rtlCol="0" anchor="t"/>
          <a:lstStyle/>
          <a:p>
            <a:pPr algn="ctr" indent="0" marL="0">
              <a:buNone/>
            </a:pPr>
            <a:r>
              <a:rPr lang="en-US" sz="1400" dirty="0">
                <a:solidFill>
                  <a:schemeClr val="tx1"/>
                </a:solidFill>
              </a:rPr>
              <a:t>messages per run</a:t>
            </a:r>
            <a:endParaRPr lang="en-US" sz="1400" dirty="0"/>
          </a:p>
        </p:txBody>
      </p:sp>
      <p:sp>
        <p:nvSpPr>
          <p:cNvPr id="6" name="stat card 1"/>
          <p:cNvSpPr/>
          <p:nvPr/>
        </p:nvSpPr>
        <p:spPr>
          <a:xfrm>
            <a:off x="2606040" y="1371600"/>
            <a:ext cx="1874520" cy="1645920"/>
          </a:xfrm>
          <a:prstGeom prst="roundRect">
            <a:avLst>
              <a:gd name="adj" fmla="val 6667"/>
            </a:avLst>
          </a:prstGeom>
          <a:solidFill>
            <a:schemeClr val="bg2"/>
          </a:solidFill>
          <a:ln w="12700">
            <a:solidFill>
              <a:schemeClr val="bg2"/>
            </a:solidFill>
            <a:prstDash val="solid"/>
          </a:ln>
        </p:spPr>
      </p:sp>
      <p:sp>
        <p:nvSpPr>
          <p:cNvPr id="7" name="stat number 1"/>
          <p:cNvSpPr txBox="1"/>
          <p:nvPr/>
        </p:nvSpPr>
        <p:spPr>
          <a:xfrm>
            <a:off x="2606040" y="1508760"/>
            <a:ext cx="1874520" cy="86868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3</a:t>
            </a:r>
            <a:endParaRPr lang="en-US" sz="5400" dirty="0"/>
          </a:p>
        </p:txBody>
      </p:sp>
      <p:sp>
        <p:nvSpPr>
          <p:cNvPr id="8" name="stat label 1"/>
          <p:cNvSpPr txBox="1"/>
          <p:nvPr/>
        </p:nvSpPr>
        <p:spPr>
          <a:xfrm>
            <a:off x="2697480" y="2468880"/>
            <a:ext cx="1691640" cy="457200"/>
          </a:xfrm>
          <a:prstGeom prst="rect">
            <a:avLst/>
          </a:prstGeom>
          <a:noFill/>
          <a:ln/>
        </p:spPr>
        <p:txBody>
          <a:bodyPr wrap="square" lIns="0" tIns="0" rIns="0" bIns="0" rtlCol="0" anchor="t"/>
          <a:lstStyle/>
          <a:p>
            <a:pPr algn="ctr" indent="0" marL="0">
              <a:buNone/>
            </a:pPr>
            <a:r>
              <a:rPr lang="en-US" sz="1400" dirty="0">
                <a:solidFill>
                  <a:schemeClr val="tx1"/>
                </a:solidFill>
              </a:rPr>
              <a:t>runs averaged</a:t>
            </a:r>
            <a:endParaRPr lang="en-US" sz="1400" dirty="0"/>
          </a:p>
        </p:txBody>
      </p:sp>
      <p:sp>
        <p:nvSpPr>
          <p:cNvPr id="9" name="stat card 2"/>
          <p:cNvSpPr/>
          <p:nvPr/>
        </p:nvSpPr>
        <p:spPr>
          <a:xfrm>
            <a:off x="4663440" y="1371600"/>
            <a:ext cx="1874520" cy="1645920"/>
          </a:xfrm>
          <a:prstGeom prst="roundRect">
            <a:avLst>
              <a:gd name="adj" fmla="val 6667"/>
            </a:avLst>
          </a:prstGeom>
          <a:solidFill>
            <a:schemeClr val="bg2"/>
          </a:solidFill>
          <a:ln w="12700">
            <a:solidFill>
              <a:schemeClr val="bg2"/>
            </a:solidFill>
            <a:prstDash val="solid"/>
          </a:ln>
        </p:spPr>
      </p:sp>
      <p:sp>
        <p:nvSpPr>
          <p:cNvPr id="10" name="stat number 2"/>
          <p:cNvSpPr txBox="1"/>
          <p:nvPr/>
        </p:nvSpPr>
        <p:spPr>
          <a:xfrm>
            <a:off x="4663440" y="1508760"/>
            <a:ext cx="1874520" cy="86868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4</a:t>
            </a:r>
            <a:endParaRPr lang="en-US" sz="5400" dirty="0"/>
          </a:p>
        </p:txBody>
      </p:sp>
      <p:sp>
        <p:nvSpPr>
          <p:cNvPr id="11" name="stat label 2"/>
          <p:cNvSpPr txBox="1"/>
          <p:nvPr/>
        </p:nvSpPr>
        <p:spPr>
          <a:xfrm>
            <a:off x="4754880" y="2468880"/>
            <a:ext cx="1691640" cy="457200"/>
          </a:xfrm>
          <a:prstGeom prst="rect">
            <a:avLst/>
          </a:prstGeom>
          <a:noFill/>
          <a:ln/>
        </p:spPr>
        <p:txBody>
          <a:bodyPr wrap="square" lIns="0" tIns="0" rIns="0" bIns="0" rtlCol="0" anchor="t"/>
          <a:lstStyle/>
          <a:p>
            <a:pPr algn="ctr" indent="0" marL="0">
              <a:buNone/>
            </a:pPr>
            <a:r>
              <a:rPr lang="en-US" sz="1400" dirty="0">
                <a:solidFill>
                  <a:schemeClr val="tx1"/>
                </a:solidFill>
              </a:rPr>
              <a:t>loss levels, 0 to 20%</a:t>
            </a:r>
            <a:endParaRPr lang="en-US" sz="1400" dirty="0"/>
          </a:p>
        </p:txBody>
      </p:sp>
      <p:sp>
        <p:nvSpPr>
          <p:cNvPr id="12" name="stat card 3"/>
          <p:cNvSpPr/>
          <p:nvPr/>
        </p:nvSpPr>
        <p:spPr>
          <a:xfrm>
            <a:off x="6720840" y="1371600"/>
            <a:ext cx="1874520" cy="1645920"/>
          </a:xfrm>
          <a:prstGeom prst="roundRect">
            <a:avLst>
              <a:gd name="adj" fmla="val 6667"/>
            </a:avLst>
          </a:prstGeom>
          <a:solidFill>
            <a:schemeClr val="bg2"/>
          </a:solidFill>
          <a:ln w="12700">
            <a:solidFill>
              <a:schemeClr val="bg2"/>
            </a:solidFill>
            <a:prstDash val="solid"/>
          </a:ln>
        </p:spPr>
      </p:sp>
      <p:sp>
        <p:nvSpPr>
          <p:cNvPr id="13" name="stat number 3"/>
          <p:cNvSpPr txBox="1"/>
          <p:nvPr/>
        </p:nvSpPr>
        <p:spPr>
          <a:xfrm>
            <a:off x="6720840" y="1508760"/>
            <a:ext cx="1874520" cy="86868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14</a:t>
            </a:r>
            <a:endParaRPr lang="en-US" sz="5400" dirty="0"/>
          </a:p>
        </p:txBody>
      </p:sp>
      <p:sp>
        <p:nvSpPr>
          <p:cNvPr id="14" name="stat label 3"/>
          <p:cNvSpPr txBox="1"/>
          <p:nvPr/>
        </p:nvSpPr>
        <p:spPr>
          <a:xfrm>
            <a:off x="6812280" y="2468880"/>
            <a:ext cx="1691640" cy="457200"/>
          </a:xfrm>
          <a:prstGeom prst="rect">
            <a:avLst/>
          </a:prstGeom>
          <a:noFill/>
          <a:ln/>
        </p:spPr>
        <p:txBody>
          <a:bodyPr wrap="square" lIns="0" tIns="0" rIns="0" bIns="0" rtlCol="0" anchor="t"/>
          <a:lstStyle/>
          <a:p>
            <a:pPr algn="ctr" indent="0" marL="0">
              <a:buNone/>
            </a:pPr>
            <a:r>
              <a:rPr lang="en-US" sz="1400" dirty="0">
                <a:solidFill>
                  <a:schemeClr val="tx1"/>
                </a:solidFill>
              </a:rPr>
              <a:t>settings tested</a:t>
            </a:r>
            <a:endParaRPr lang="en-US" sz="1400" dirty="0"/>
          </a:p>
        </p:txBody>
      </p:sp>
      <p:sp>
        <p:nvSpPr>
          <p:cNvPr id="15" name="setup list"/>
          <p:cNvSpPr txBox="1"/>
          <p:nvPr/>
        </p:nvSpPr>
        <p:spPr>
          <a:xfrm>
            <a:off x="548640" y="3337560"/>
            <a:ext cx="8046720" cy="1280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Loss: QoS 0 and 1 at 0, 5, 10 and 20%</a:t>
            </a:r>
            <a:endParaRPr lang="en-US" sz="1600" dirty="0"/>
          </a:p>
          <a:p>
            <a:pPr marL="342900" indent="-342900">
              <a:spcAft>
                <a:spcPts val="800"/>
              </a:spcAft>
              <a:buSzPct val="100000"/>
              <a:buChar char="•"/>
            </a:pPr>
            <a:r>
              <a:rPr lang="en-US" sz="1600" dirty="0">
                <a:solidFill>
                  <a:schemeClr val="tx1"/>
                </a:solidFill>
              </a:rPr>
              <a:t>Subscribers: 10, 50 and 100.  Payload: 64 B, 1 KB and 16 KB</a:t>
            </a:r>
            <a:endParaRPr lang="en-US" sz="1600" dirty="0"/>
          </a:p>
          <a:p>
            <a:pPr marL="342900" indent="-342900">
              <a:spcAft>
                <a:spcPts val="800"/>
              </a:spcAft>
              <a:buSzPct val="100000"/>
              <a:buChar char="•"/>
            </a:pPr>
            <a:r>
              <a:rPr lang="en-US" sz="1600" dirty="0">
                <a:solidFill>
                  <a:schemeClr val="tx1"/>
                </a:solidFill>
              </a:rPr>
              <a:t>Fresh broker per run, one laptop, loopback network</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chemeClr val="tx2"/>
                </a:solidFill>
              </a:rPr>
              <a:t>Effect of message loss</a:t>
            </a:r>
            <a:endParaRPr lang="en-US" sz="3000" dirty="0"/>
          </a:p>
        </p:txBody>
      </p:sp>
      <p:graphicFrame>
        <p:nvGraphicFramePr>
          <p:cNvPr id="3" name="delivery chart" descr=""/>
          <p:cNvGraphicFramePr/>
          <p:nvPr/>
        </p:nvGraphicFramePr>
        <p:xfrm>
          <a:off x="457200" y="1234440"/>
          <a:ext cx="4160520" cy="28803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atency chart" descr=""/>
          <p:cNvGraphicFramePr/>
          <p:nvPr/>
        </p:nvGraphicFramePr>
        <p:xfrm>
          <a:off x="4617720" y="1234440"/>
          <a:ext cx="4160520" cy="2880360"/>
        </p:xfrm>
        <a:graphic xmlns:a="http://schemas.openxmlformats.org/drawingml/2006/main">
          <a:graphicData uri="http://schemas.openxmlformats.org/drawingml/2006/chart">
            <c:chart xmlns:c="http://schemas.openxmlformats.org/drawingml/2006/chart" r:id="rId2"/>
          </a:graphicData>
        </a:graphic>
      </p:graphicFrame>
      <p:sp>
        <p:nvSpPr>
          <p:cNvPr id="5" name="loss takeaway"/>
          <p:cNvSpPr txBox="1"/>
          <p:nvPr/>
        </p:nvSpPr>
        <p:spPr>
          <a:xfrm>
            <a:off x="548640" y="4206240"/>
            <a:ext cx="8046720" cy="548640"/>
          </a:xfrm>
          <a:prstGeom prst="rect">
            <a:avLst/>
          </a:prstGeom>
          <a:noFill/>
          <a:ln/>
        </p:spPr>
        <p:txBody>
          <a:bodyPr wrap="square" lIns="0" tIns="0" rIns="0" bIns="0" rtlCol="0" anchor="t"/>
          <a:lstStyle/>
          <a:p>
            <a:pPr indent="0" marL="0">
              <a:buNone/>
            </a:pPr>
            <a:r>
              <a:rPr lang="en-US" sz="1500" dirty="0">
                <a:solidFill>
                  <a:schemeClr val="tx2"/>
                </a:solidFill>
              </a:rPr>
              <a:t>At 20% loss QoS 0 delivers 64%, matching (1 - 0.2) squared. QoS 1 delivers 100%, but latency rises from 2 ms to 109 ms.</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chemeClr val="tx2"/>
                </a:solidFill>
              </a:rPr>
              <a:t>The cost of QoS 1</a:t>
            </a:r>
            <a:endParaRPr lang="en-US" sz="3000" dirty="0"/>
          </a:p>
        </p:txBody>
      </p:sp>
      <p:graphicFrame>
        <p:nvGraphicFramePr>
          <p:cNvPr id="3" name="retransmit chart" descr=""/>
          <p:cNvGraphicFramePr/>
          <p:nvPr/>
        </p:nvGraphicFramePr>
        <p:xfrm>
          <a:off x="457200" y="1234440"/>
          <a:ext cx="4663440" cy="3429000"/>
        </p:xfrm>
        <a:graphic xmlns:a="http://schemas.openxmlformats.org/drawingml/2006/main">
          <a:graphicData uri="http://schemas.openxmlformats.org/drawingml/2006/chart">
            <c:chart xmlns:c="http://schemas.openxmlformats.org/drawingml/2006/chart" r:id="rId1"/>
          </a:graphicData>
        </a:graphic>
      </p:graphicFrame>
      <p:sp>
        <p:nvSpPr>
          <p:cNvPr id="4" name="cost card 0"/>
          <p:cNvSpPr/>
          <p:nvPr/>
        </p:nvSpPr>
        <p:spPr>
          <a:xfrm>
            <a:off x="5394960" y="1325880"/>
            <a:ext cx="3200400" cy="1051560"/>
          </a:xfrm>
          <a:prstGeom prst="roundRect">
            <a:avLst>
              <a:gd name="adj" fmla="val 10435"/>
            </a:avLst>
          </a:prstGeom>
          <a:solidFill>
            <a:schemeClr val="bg2"/>
          </a:solidFill>
          <a:ln w="12700">
            <a:solidFill>
              <a:schemeClr val="bg2"/>
            </a:solidFill>
            <a:prstDash val="solid"/>
          </a:ln>
        </p:spPr>
      </p:sp>
      <p:sp>
        <p:nvSpPr>
          <p:cNvPr id="5" name="cost number 0"/>
          <p:cNvSpPr txBox="1"/>
          <p:nvPr/>
        </p:nvSpPr>
        <p:spPr>
          <a:xfrm>
            <a:off x="5532120" y="1325880"/>
            <a:ext cx="1097280" cy="105156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336</a:t>
            </a:r>
            <a:endParaRPr lang="en-US" sz="4000" dirty="0"/>
          </a:p>
        </p:txBody>
      </p:sp>
      <p:sp>
        <p:nvSpPr>
          <p:cNvPr id="6" name="cost label 0"/>
          <p:cNvSpPr txBox="1"/>
          <p:nvPr/>
        </p:nvSpPr>
        <p:spPr>
          <a:xfrm>
            <a:off x="6675120" y="1325880"/>
            <a:ext cx="1828800" cy="1051560"/>
          </a:xfrm>
          <a:prstGeom prst="rect">
            <a:avLst/>
          </a:prstGeom>
          <a:noFill/>
          <a:ln/>
        </p:spPr>
        <p:txBody>
          <a:bodyPr wrap="square" lIns="0" tIns="0" rIns="0" bIns="0" rtlCol="0" anchor="ctr"/>
          <a:lstStyle/>
          <a:p>
            <a:pPr indent="0" marL="0">
              <a:buNone/>
            </a:pPr>
            <a:r>
              <a:rPr lang="en-US" sz="1300" dirty="0">
                <a:solidFill>
                  <a:schemeClr val="tx1"/>
                </a:solidFill>
              </a:rPr>
              <a:t>retransmissions to deliver 300 messages at 20% loss</a:t>
            </a:r>
            <a:endParaRPr lang="en-US" sz="1300" dirty="0"/>
          </a:p>
        </p:txBody>
      </p:sp>
      <p:sp>
        <p:nvSpPr>
          <p:cNvPr id="7" name="cost card 1"/>
          <p:cNvSpPr/>
          <p:nvPr/>
        </p:nvSpPr>
        <p:spPr>
          <a:xfrm>
            <a:off x="5394960" y="2514600"/>
            <a:ext cx="3200400" cy="1051560"/>
          </a:xfrm>
          <a:prstGeom prst="roundRect">
            <a:avLst>
              <a:gd name="adj" fmla="val 10435"/>
            </a:avLst>
          </a:prstGeom>
          <a:solidFill>
            <a:schemeClr val="bg2"/>
          </a:solidFill>
          <a:ln w="12700">
            <a:solidFill>
              <a:schemeClr val="bg2"/>
            </a:solidFill>
            <a:prstDash val="solid"/>
          </a:ln>
        </p:spPr>
      </p:sp>
      <p:sp>
        <p:nvSpPr>
          <p:cNvPr id="8" name="cost number 1"/>
          <p:cNvSpPr txBox="1"/>
          <p:nvPr/>
        </p:nvSpPr>
        <p:spPr>
          <a:xfrm>
            <a:off x="5532120" y="2514600"/>
            <a:ext cx="1097280" cy="105156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66</a:t>
            </a:r>
            <a:endParaRPr lang="en-US" sz="4000" dirty="0"/>
          </a:p>
        </p:txBody>
      </p:sp>
      <p:sp>
        <p:nvSpPr>
          <p:cNvPr id="9" name="cost label 1"/>
          <p:cNvSpPr txBox="1"/>
          <p:nvPr/>
        </p:nvSpPr>
        <p:spPr>
          <a:xfrm>
            <a:off x="6675120" y="2514600"/>
            <a:ext cx="1828800" cy="1051560"/>
          </a:xfrm>
          <a:prstGeom prst="rect">
            <a:avLst/>
          </a:prstGeom>
          <a:noFill/>
          <a:ln/>
        </p:spPr>
        <p:txBody>
          <a:bodyPr wrap="square" lIns="0" tIns="0" rIns="0" bIns="0" rtlCol="0" anchor="ctr"/>
          <a:lstStyle/>
          <a:p>
            <a:pPr indent="0" marL="0">
              <a:buNone/>
            </a:pPr>
            <a:r>
              <a:rPr lang="en-US" sz="1300" dirty="0">
                <a:solidFill>
                  <a:schemeClr val="tx1"/>
                </a:solidFill>
              </a:rPr>
              <a:t>duplicate copies filtered out at the subscriber</a:t>
            </a:r>
            <a:endParaRPr lang="en-US" sz="1300" dirty="0"/>
          </a:p>
        </p:txBody>
      </p:sp>
      <p:sp>
        <p:nvSpPr>
          <p:cNvPr id="10" name="model card"/>
          <p:cNvSpPr/>
          <p:nvPr/>
        </p:nvSpPr>
        <p:spPr>
          <a:xfrm>
            <a:off x="5394960" y="3703320"/>
            <a:ext cx="3200400" cy="960120"/>
          </a:xfrm>
          <a:prstGeom prst="roundRect">
            <a:avLst>
              <a:gd name="adj" fmla="val 11429"/>
            </a:avLst>
          </a:prstGeom>
          <a:solidFill>
            <a:schemeClr val="bg2"/>
          </a:solidFill>
          <a:ln w="12700">
            <a:solidFill>
              <a:schemeClr val="bg2"/>
            </a:solidFill>
            <a:prstDash val="solid"/>
          </a:ln>
        </p:spPr>
      </p:sp>
      <p:sp>
        <p:nvSpPr>
          <p:cNvPr id="11" name="model text"/>
          <p:cNvSpPr txBox="1"/>
          <p:nvPr/>
        </p:nvSpPr>
        <p:spPr>
          <a:xfrm>
            <a:off x="5532120" y="3749040"/>
            <a:ext cx="2926080" cy="868680"/>
          </a:xfrm>
          <a:prstGeom prst="rect">
            <a:avLst/>
          </a:prstGeom>
          <a:noFill/>
          <a:ln/>
        </p:spPr>
        <p:txBody>
          <a:bodyPr wrap="square" lIns="0" tIns="0" rIns="0" bIns="0" rtlCol="0" anchor="ctr"/>
          <a:lstStyle/>
          <a:p>
            <a:pPr indent="0" marL="0">
              <a:buNone/>
            </a:pPr>
            <a:r>
              <a:rPr lang="en-US" sz="1300" dirty="0">
                <a:solidFill>
                  <a:schemeClr val="tx1"/>
                </a:solidFill>
              </a:rPr>
              <a:t>Model: each hop needs 1 / 0.64 = 1.56 attempts, so about 168 retries. Measured: 164 and 171.</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chemeClr val="tx2"/>
                </a:solidFill>
              </a:rPr>
              <a:t>Scalability and payload size</a:t>
            </a:r>
            <a:endParaRPr lang="en-US" sz="3000" dirty="0"/>
          </a:p>
        </p:txBody>
      </p:sp>
      <p:graphicFrame>
        <p:nvGraphicFramePr>
          <p:cNvPr id="3" name="subscribers chart" descr=""/>
          <p:cNvGraphicFramePr/>
          <p:nvPr/>
        </p:nvGraphicFramePr>
        <p:xfrm>
          <a:off x="457200" y="1234440"/>
          <a:ext cx="411480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payload chart" descr=""/>
          <p:cNvGraphicFramePr/>
          <p:nvPr/>
        </p:nvGraphicFramePr>
        <p:xfrm>
          <a:off x="4572000" y="1234440"/>
          <a:ext cx="4114800" cy="2788920"/>
        </p:xfrm>
        <a:graphic xmlns:a="http://schemas.openxmlformats.org/drawingml/2006/main">
          <a:graphicData uri="http://schemas.openxmlformats.org/drawingml/2006/chart">
            <c:chart xmlns:c="http://schemas.openxmlformats.org/drawingml/2006/chart" r:id="rId2"/>
          </a:graphicData>
        </a:graphic>
      </p:graphicFrame>
      <p:sp>
        <p:nvSpPr>
          <p:cNvPr id="5" name="scale text"/>
          <p:cNvSpPr txBox="1"/>
          <p:nvPr/>
        </p:nvSpPr>
        <p:spPr>
          <a:xfrm>
            <a:off x="548640" y="4114800"/>
            <a:ext cx="3931920" cy="685800"/>
          </a:xfrm>
          <a:prstGeom prst="rect">
            <a:avLst/>
          </a:prstGeom>
          <a:noFill/>
          <a:ln/>
        </p:spPr>
        <p:txBody>
          <a:bodyPr wrap="square" lIns="0" tIns="0" rIns="0" bIns="0" rtlCol="0" anchor="t"/>
          <a:lstStyle/>
          <a:p>
            <a:pPr indent="0" marL="0">
              <a:buNone/>
            </a:pPr>
            <a:r>
              <a:rPr lang="en-US" sz="1300" dirty="0">
                <a:solidFill>
                  <a:schemeClr val="tx1"/>
                </a:solidFill>
              </a:rPr>
              <a:t>Every subscriber got all 300 messages. Latency grows with subscriber count, and deliveries level off near 25,000 per second, so the single event loop is the limit.</a:t>
            </a:r>
            <a:endParaRPr lang="en-US" sz="1300" dirty="0"/>
          </a:p>
        </p:txBody>
      </p:sp>
      <p:sp>
        <p:nvSpPr>
          <p:cNvPr id="6" name="payload text"/>
          <p:cNvSpPr txBox="1"/>
          <p:nvPr/>
        </p:nvSpPr>
        <p:spPr>
          <a:xfrm>
            <a:off x="4663440" y="4114800"/>
            <a:ext cx="3931920" cy="685800"/>
          </a:xfrm>
          <a:prstGeom prst="rect">
            <a:avLst/>
          </a:prstGeom>
          <a:noFill/>
          <a:ln/>
        </p:spPr>
        <p:txBody>
          <a:bodyPr wrap="square" lIns="0" tIns="0" rIns="0" bIns="0" rtlCol="0" anchor="t"/>
          <a:lstStyle/>
          <a:p>
            <a:pPr indent="0" marL="0">
              <a:buNone/>
            </a:pPr>
            <a:r>
              <a:rPr lang="en-US" sz="1300" dirty="0">
                <a:solidFill>
                  <a:schemeClr val="tx1"/>
                </a:solidFill>
              </a:rPr>
              <a:t>Small payloads cost about the same. At 16 KB, encoding and copying cut throughput by about two thirds.</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chemeClr val="tx2"/>
                </a:solidFill>
              </a:rPr>
              <a:t>Live demo</a:t>
            </a:r>
            <a:endParaRPr lang="en-US" sz="3000" dirty="0"/>
          </a:p>
        </p:txBody>
      </p:sp>
      <p:sp>
        <p:nvSpPr>
          <p:cNvPr id="3" name="badge 1"/>
          <p:cNvSpPr/>
          <p:nvPr/>
        </p:nvSpPr>
        <p:spPr>
          <a:xfrm>
            <a:off x="548640" y="1325880"/>
            <a:ext cx="384048" cy="384048"/>
          </a:xfrm>
          <a:prstGeom prst="ellipse">
            <a:avLst/>
          </a:prstGeom>
          <a:solidFill>
            <a:schemeClr val="accent1"/>
          </a:solidFill>
          <a:ln w="12700">
            <a:solidFill>
              <a:schemeClr val="accent1"/>
            </a:solidFill>
            <a:prstDash val="solid"/>
          </a:ln>
        </p:spPr>
      </p:sp>
      <p:sp>
        <p:nvSpPr>
          <p:cNvPr id="4" name="badge text 1"/>
          <p:cNvSpPr txBox="1"/>
          <p:nvPr/>
        </p:nvSpPr>
        <p:spPr>
          <a:xfrm>
            <a:off x="548640" y="13258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demo step 0"/>
          <p:cNvSpPr txBox="1"/>
          <p:nvPr/>
        </p:nvSpPr>
        <p:spPr>
          <a:xfrm>
            <a:off x="1097280" y="1325880"/>
            <a:ext cx="4480560" cy="384048"/>
          </a:xfrm>
          <a:prstGeom prst="rect">
            <a:avLst/>
          </a:prstGeom>
          <a:noFill/>
          <a:ln/>
        </p:spPr>
        <p:txBody>
          <a:bodyPr wrap="square" lIns="0" tIns="0" rIns="0" bIns="0" rtlCol="0" anchor="ctr"/>
          <a:lstStyle/>
          <a:p>
            <a:pPr indent="0" marL="0">
              <a:buNone/>
            </a:pPr>
            <a:r>
              <a:rPr lang="en-US" sz="1500" dirty="0">
                <a:solidFill>
                  <a:schemeClr val="tx1"/>
                </a:solidFill>
              </a:rPr>
              <a:t>Start the broker and subscribe to sensor/+/temp</a:t>
            </a:r>
            <a:endParaRPr lang="en-US" sz="1500" dirty="0"/>
          </a:p>
        </p:txBody>
      </p:sp>
      <p:sp>
        <p:nvSpPr>
          <p:cNvPr id="6" name="badge 2"/>
          <p:cNvSpPr/>
          <p:nvPr/>
        </p:nvSpPr>
        <p:spPr>
          <a:xfrm>
            <a:off x="548640" y="1874520"/>
            <a:ext cx="384048" cy="384048"/>
          </a:xfrm>
          <a:prstGeom prst="ellipse">
            <a:avLst/>
          </a:prstGeom>
          <a:solidFill>
            <a:schemeClr val="accent1"/>
          </a:solidFill>
          <a:ln w="12700">
            <a:solidFill>
              <a:schemeClr val="accent1"/>
            </a:solidFill>
            <a:prstDash val="solid"/>
          </a:ln>
        </p:spPr>
      </p:sp>
      <p:sp>
        <p:nvSpPr>
          <p:cNvPr id="7" name="badge text 2"/>
          <p:cNvSpPr txBox="1"/>
          <p:nvPr/>
        </p:nvSpPr>
        <p:spPr>
          <a:xfrm>
            <a:off x="548640" y="187452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demo step 1"/>
          <p:cNvSpPr txBox="1"/>
          <p:nvPr/>
        </p:nvSpPr>
        <p:spPr>
          <a:xfrm>
            <a:off x="1097280" y="1874520"/>
            <a:ext cx="4480560" cy="384048"/>
          </a:xfrm>
          <a:prstGeom prst="rect">
            <a:avLst/>
          </a:prstGeom>
          <a:noFill/>
          <a:ln/>
        </p:spPr>
        <p:txBody>
          <a:bodyPr wrap="square" lIns="0" tIns="0" rIns="0" bIns="0" rtlCol="0" anchor="ctr"/>
          <a:lstStyle/>
          <a:p>
            <a:pPr indent="0" marL="0">
              <a:buNone/>
            </a:pPr>
            <a:r>
              <a:rPr lang="en-US" sz="1500" dirty="0">
                <a:solidFill>
                  <a:schemeClr val="tx1"/>
                </a:solidFill>
              </a:rPr>
              <a:t>Publish room1/temp (matches) and room1/humidity (does not)</a:t>
            </a:r>
            <a:endParaRPr lang="en-US" sz="1500" dirty="0"/>
          </a:p>
        </p:txBody>
      </p:sp>
      <p:sp>
        <p:nvSpPr>
          <p:cNvPr id="9" name="badge 3"/>
          <p:cNvSpPr/>
          <p:nvPr/>
        </p:nvSpPr>
        <p:spPr>
          <a:xfrm>
            <a:off x="548640" y="2423160"/>
            <a:ext cx="384048" cy="384048"/>
          </a:xfrm>
          <a:prstGeom prst="ellipse">
            <a:avLst/>
          </a:prstGeom>
          <a:solidFill>
            <a:schemeClr val="accent1"/>
          </a:solidFill>
          <a:ln w="12700">
            <a:solidFill>
              <a:schemeClr val="accent1"/>
            </a:solidFill>
            <a:prstDash val="solid"/>
          </a:ln>
        </p:spPr>
      </p:sp>
      <p:sp>
        <p:nvSpPr>
          <p:cNvPr id="10" name="badge text 3"/>
          <p:cNvSpPr txBox="1"/>
          <p:nvPr/>
        </p:nvSpPr>
        <p:spPr>
          <a:xfrm>
            <a:off x="548640" y="242316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demo step 2"/>
          <p:cNvSpPr txBox="1"/>
          <p:nvPr/>
        </p:nvSpPr>
        <p:spPr>
          <a:xfrm>
            <a:off x="1097280" y="2423160"/>
            <a:ext cx="4480560" cy="384048"/>
          </a:xfrm>
          <a:prstGeom prst="rect">
            <a:avLst/>
          </a:prstGeom>
          <a:noFill/>
          <a:ln/>
        </p:spPr>
        <p:txBody>
          <a:bodyPr wrap="square" lIns="0" tIns="0" rIns="0" bIns="0" rtlCol="0" anchor="ctr"/>
          <a:lstStyle/>
          <a:p>
            <a:pPr indent="0" marL="0">
              <a:buNone/>
            </a:pPr>
            <a:r>
              <a:rPr lang="en-US" sz="1500" dirty="0">
                <a:solidFill>
                  <a:schemeClr val="tx1"/>
                </a:solidFill>
              </a:rPr>
              <a:t>Retained message, then a brand-new subscriber</a:t>
            </a:r>
            <a:endParaRPr lang="en-US" sz="1500" dirty="0"/>
          </a:p>
        </p:txBody>
      </p:sp>
      <p:sp>
        <p:nvSpPr>
          <p:cNvPr id="12" name="badge 4"/>
          <p:cNvSpPr/>
          <p:nvPr/>
        </p:nvSpPr>
        <p:spPr>
          <a:xfrm>
            <a:off x="548640" y="2971800"/>
            <a:ext cx="384048" cy="384048"/>
          </a:xfrm>
          <a:prstGeom prst="ellipse">
            <a:avLst/>
          </a:prstGeom>
          <a:solidFill>
            <a:schemeClr val="accent1"/>
          </a:solidFill>
          <a:ln w="12700">
            <a:solidFill>
              <a:schemeClr val="accent1"/>
            </a:solidFill>
            <a:prstDash val="solid"/>
          </a:ln>
        </p:spPr>
      </p:sp>
      <p:sp>
        <p:nvSpPr>
          <p:cNvPr id="13" name="badge text 4"/>
          <p:cNvSpPr txBox="1"/>
          <p:nvPr/>
        </p:nvSpPr>
        <p:spPr>
          <a:xfrm>
            <a:off x="548640" y="29718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demo step 3"/>
          <p:cNvSpPr txBox="1"/>
          <p:nvPr/>
        </p:nvSpPr>
        <p:spPr>
          <a:xfrm>
            <a:off x="1097280" y="2971800"/>
            <a:ext cx="4480560" cy="384048"/>
          </a:xfrm>
          <a:prstGeom prst="rect">
            <a:avLst/>
          </a:prstGeom>
          <a:noFill/>
          <a:ln/>
        </p:spPr>
        <p:txBody>
          <a:bodyPr wrap="square" lIns="0" tIns="0" rIns="0" bIns="0" rtlCol="0" anchor="ctr"/>
          <a:lstStyle/>
          <a:p>
            <a:pPr indent="0" marL="0">
              <a:buNone/>
            </a:pPr>
            <a:r>
              <a:rPr lang="en-US" sz="1500" dirty="0">
                <a:solidFill>
                  <a:schemeClr val="tx1"/>
                </a:solidFill>
              </a:rPr>
              <a:t>Start the proxy at 20% loss</a:t>
            </a:r>
            <a:endParaRPr lang="en-US" sz="1500" dirty="0"/>
          </a:p>
        </p:txBody>
      </p:sp>
      <p:sp>
        <p:nvSpPr>
          <p:cNvPr id="15" name="badge 5"/>
          <p:cNvSpPr/>
          <p:nvPr/>
        </p:nvSpPr>
        <p:spPr>
          <a:xfrm>
            <a:off x="548640" y="3520440"/>
            <a:ext cx="384048" cy="384048"/>
          </a:xfrm>
          <a:prstGeom prst="ellipse">
            <a:avLst/>
          </a:prstGeom>
          <a:solidFill>
            <a:schemeClr val="accent1"/>
          </a:solidFill>
          <a:ln w="12700">
            <a:solidFill>
              <a:schemeClr val="accent1"/>
            </a:solidFill>
            <a:prstDash val="solid"/>
          </a:ln>
        </p:spPr>
      </p:sp>
      <p:sp>
        <p:nvSpPr>
          <p:cNvPr id="16" name="badge text 5"/>
          <p:cNvSpPr txBox="1"/>
          <p:nvPr/>
        </p:nvSpPr>
        <p:spPr>
          <a:xfrm>
            <a:off x="548640" y="35204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demo step 4"/>
          <p:cNvSpPr txBox="1"/>
          <p:nvPr/>
        </p:nvSpPr>
        <p:spPr>
          <a:xfrm>
            <a:off x="1097280" y="3520440"/>
            <a:ext cx="4480560" cy="384048"/>
          </a:xfrm>
          <a:prstGeom prst="rect">
            <a:avLst/>
          </a:prstGeom>
          <a:noFill/>
          <a:ln/>
        </p:spPr>
        <p:txBody>
          <a:bodyPr wrap="square" lIns="0" tIns="0" rIns="0" bIns="0" rtlCol="0" anchor="ctr"/>
          <a:lstStyle/>
          <a:p>
            <a:pPr indent="0" marL="0">
              <a:buNone/>
            </a:pPr>
            <a:r>
              <a:rPr lang="en-US" sz="1500" dirty="0">
                <a:solidFill>
                  <a:schemeClr val="tx1"/>
                </a:solidFill>
              </a:rPr>
              <a:t>Publish 200 messages at QoS 0 and at QoS 1</a:t>
            </a:r>
            <a:endParaRPr lang="en-US" sz="1500" dirty="0"/>
          </a:p>
        </p:txBody>
      </p:sp>
      <p:sp>
        <p:nvSpPr>
          <p:cNvPr id="18" name="badge 6"/>
          <p:cNvSpPr/>
          <p:nvPr/>
        </p:nvSpPr>
        <p:spPr>
          <a:xfrm>
            <a:off x="548640" y="4069080"/>
            <a:ext cx="384048" cy="384048"/>
          </a:xfrm>
          <a:prstGeom prst="ellipse">
            <a:avLst/>
          </a:prstGeom>
          <a:solidFill>
            <a:schemeClr val="accent1"/>
          </a:solidFill>
          <a:ln w="12700">
            <a:solidFill>
              <a:schemeClr val="accent1"/>
            </a:solidFill>
            <a:prstDash val="solid"/>
          </a:ln>
        </p:spPr>
      </p:sp>
      <p:sp>
        <p:nvSpPr>
          <p:cNvPr id="19" name="badge text 6"/>
          <p:cNvSpPr txBox="1"/>
          <p:nvPr/>
        </p:nvSpPr>
        <p:spPr>
          <a:xfrm>
            <a:off x="548640" y="40690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demo step 5"/>
          <p:cNvSpPr txBox="1"/>
          <p:nvPr/>
        </p:nvSpPr>
        <p:spPr>
          <a:xfrm>
            <a:off x="1097280" y="4069080"/>
            <a:ext cx="4480560" cy="384048"/>
          </a:xfrm>
          <a:prstGeom prst="rect">
            <a:avLst/>
          </a:prstGeom>
          <a:noFill/>
          <a:ln/>
        </p:spPr>
        <p:txBody>
          <a:bodyPr wrap="square" lIns="0" tIns="0" rIns="0" bIns="0" rtlCol="0" anchor="ctr"/>
          <a:lstStyle/>
          <a:p>
            <a:pPr indent="0" marL="0">
              <a:buNone/>
            </a:pPr>
            <a:r>
              <a:rPr lang="en-US" sz="1500" dirty="0">
                <a:solidFill>
                  <a:schemeClr val="tx1"/>
                </a:solidFill>
              </a:rPr>
              <a:t>Read the broker STATS counters</a:t>
            </a:r>
            <a:endParaRPr lang="en-US" sz="1500" dirty="0"/>
          </a:p>
        </p:txBody>
      </p:sp>
      <p:sp>
        <p:nvSpPr>
          <p:cNvPr id="21" name="demo result card"/>
          <p:cNvSpPr/>
          <p:nvPr/>
        </p:nvSpPr>
        <p:spPr>
          <a:xfrm>
            <a:off x="5852160" y="1325880"/>
            <a:ext cx="2743200" cy="3246120"/>
          </a:xfrm>
          <a:prstGeom prst="roundRect">
            <a:avLst>
              <a:gd name="adj" fmla="val 4000"/>
            </a:avLst>
          </a:prstGeom>
          <a:solidFill>
            <a:schemeClr val="bg2"/>
          </a:solidFill>
          <a:ln w="12700">
            <a:solidFill>
              <a:schemeClr val="bg2"/>
            </a:solidFill>
            <a:prstDash val="solid"/>
          </a:ln>
        </p:spPr>
      </p:sp>
      <p:sp>
        <p:nvSpPr>
          <p:cNvPr id="22" name="demo result head"/>
          <p:cNvSpPr txBox="1"/>
          <p:nvPr/>
        </p:nvSpPr>
        <p:spPr>
          <a:xfrm>
            <a:off x="5989320" y="1463040"/>
            <a:ext cx="2468880" cy="502920"/>
          </a:xfrm>
          <a:prstGeom prst="rect">
            <a:avLst/>
          </a:prstGeom>
          <a:noFill/>
          <a:ln/>
        </p:spPr>
        <p:txBody>
          <a:bodyPr wrap="square" lIns="0" tIns="0" rIns="0" bIns="0" rtlCol="0" anchor="t"/>
          <a:lstStyle/>
          <a:p>
            <a:pPr indent="0" marL="0">
              <a:buNone/>
            </a:pPr>
            <a:r>
              <a:rPr lang="en-US" sz="1400" b="1" dirty="0">
                <a:solidFill>
                  <a:schemeClr val="tx2"/>
                </a:solidFill>
              </a:rPr>
              <a:t>One demo run at 20% loss</a:t>
            </a:r>
            <a:endParaRPr lang="en-US" sz="1400" dirty="0"/>
          </a:p>
        </p:txBody>
      </p:sp>
      <p:sp>
        <p:nvSpPr>
          <p:cNvPr id="23" name="demo q0 number"/>
          <p:cNvSpPr txBox="1"/>
          <p:nvPr/>
        </p:nvSpPr>
        <p:spPr>
          <a:xfrm>
            <a:off x="5989320" y="2103120"/>
            <a:ext cx="2468880" cy="640080"/>
          </a:xfrm>
          <a:prstGeom prst="rect">
            <a:avLst/>
          </a:prstGeom>
          <a:noFill/>
          <a:ln/>
        </p:spPr>
        <p:txBody>
          <a:bodyPr wrap="square" lIns="0" tIns="0" rIns="0" bIns="0" rtlCol="0" anchor="t"/>
          <a:lstStyle/>
          <a:p>
            <a:pPr indent="0" marL="0">
              <a:buNone/>
            </a:pPr>
            <a:r>
              <a:rPr lang="en-US" sz="3200" b="1" dirty="0">
                <a:solidFill>
                  <a:schemeClr val="accent2"/>
                </a:solidFill>
                <a:latin typeface="+mj-lt" pitchFamily="34" charset="0"/>
                <a:ea typeface="+mj-lt" pitchFamily="34" charset="-122"/>
                <a:cs typeface="+mj-lt" pitchFamily="34" charset="-120"/>
              </a:rPr>
              <a:t>140 / 200</a:t>
            </a:r>
            <a:endParaRPr lang="en-US" sz="3200" dirty="0"/>
          </a:p>
        </p:txBody>
      </p:sp>
      <p:sp>
        <p:nvSpPr>
          <p:cNvPr id="24" name="demo q0 label"/>
          <p:cNvSpPr txBox="1"/>
          <p:nvPr/>
        </p:nvSpPr>
        <p:spPr>
          <a:xfrm>
            <a:off x="5989320" y="2743200"/>
            <a:ext cx="2468880" cy="274320"/>
          </a:xfrm>
          <a:prstGeom prst="rect">
            <a:avLst/>
          </a:prstGeom>
          <a:noFill/>
          <a:ln/>
        </p:spPr>
        <p:txBody>
          <a:bodyPr wrap="square" lIns="0" tIns="0" rIns="0" bIns="0" rtlCol="0" anchor="t"/>
          <a:lstStyle/>
          <a:p>
            <a:pPr indent="0" marL="0">
              <a:buNone/>
            </a:pPr>
            <a:r>
              <a:rPr lang="en-US" sz="1300" dirty="0">
                <a:solidFill>
                  <a:schemeClr val="tx1"/>
                </a:solidFill>
              </a:rPr>
              <a:t>QoS 0 received</a:t>
            </a:r>
            <a:endParaRPr lang="en-US" sz="1300" dirty="0"/>
          </a:p>
        </p:txBody>
      </p:sp>
      <p:sp>
        <p:nvSpPr>
          <p:cNvPr id="25" name="demo q1 number"/>
          <p:cNvSpPr txBox="1"/>
          <p:nvPr/>
        </p:nvSpPr>
        <p:spPr>
          <a:xfrm>
            <a:off x="5989320" y="3291840"/>
            <a:ext cx="2468880" cy="640080"/>
          </a:xfrm>
          <a:prstGeom prst="rect">
            <a:avLst/>
          </a:prstGeom>
          <a:noFill/>
          <a:ln/>
        </p:spPr>
        <p:txBody>
          <a:bodyPr wrap="square" lIns="0" tIns="0" rIns="0" bIns="0" rtlCol="0" anchor="t"/>
          <a:lstStyle/>
          <a:p>
            <a:pPr indent="0" marL="0">
              <a:buNone/>
            </a:pPr>
            <a:r>
              <a:rPr lang="en-US" sz="3200" b="1" dirty="0">
                <a:solidFill>
                  <a:schemeClr val="accent1"/>
                </a:solidFill>
                <a:latin typeface="+mj-lt" pitchFamily="34" charset="0"/>
                <a:ea typeface="+mj-lt" pitchFamily="34" charset="-122"/>
                <a:cs typeface="+mj-lt" pitchFamily="34" charset="-120"/>
              </a:rPr>
              <a:t>200 / 200</a:t>
            </a:r>
            <a:endParaRPr lang="en-US" sz="3200" dirty="0"/>
          </a:p>
        </p:txBody>
      </p:sp>
      <p:sp>
        <p:nvSpPr>
          <p:cNvPr id="26" name="demo q1 label"/>
          <p:cNvSpPr txBox="1"/>
          <p:nvPr/>
        </p:nvSpPr>
        <p:spPr>
          <a:xfrm>
            <a:off x="5989320" y="3931920"/>
            <a:ext cx="2468880" cy="274320"/>
          </a:xfrm>
          <a:prstGeom prst="rect">
            <a:avLst/>
          </a:prstGeom>
          <a:noFill/>
          <a:ln/>
        </p:spPr>
        <p:txBody>
          <a:bodyPr wrap="square" lIns="0" tIns="0" rIns="0" bIns="0" rtlCol="0" anchor="t"/>
          <a:lstStyle/>
          <a:p>
            <a:pPr indent="0" marL="0">
              <a:buNone/>
            </a:pPr>
            <a:r>
              <a:rPr lang="en-US" sz="1300" dirty="0">
                <a:solidFill>
                  <a:schemeClr val="tx1"/>
                </a:solidFill>
              </a:rPr>
              <a:t>QoS 1 received</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chemeClr val="tx2"/>
                </a:solidFill>
              </a:rPr>
              <a:t>Limitations and future work</a:t>
            </a:r>
            <a:endParaRPr lang="en-US" sz="3000" dirty="0"/>
          </a:p>
        </p:txBody>
      </p:sp>
      <p:sp>
        <p:nvSpPr>
          <p:cNvPr id="3" name="limits card"/>
          <p:cNvSpPr/>
          <p:nvPr/>
        </p:nvSpPr>
        <p:spPr>
          <a:xfrm>
            <a:off x="548640" y="1371600"/>
            <a:ext cx="3886200" cy="3017520"/>
          </a:xfrm>
          <a:prstGeom prst="roundRect">
            <a:avLst>
              <a:gd name="adj" fmla="val 3636"/>
            </a:avLst>
          </a:prstGeom>
          <a:solidFill>
            <a:schemeClr val="bg2"/>
          </a:solidFill>
          <a:ln w="12700">
            <a:solidFill>
              <a:schemeClr val="bg2"/>
            </a:solidFill>
            <a:prstDash val="solid"/>
          </a:ln>
        </p:spPr>
      </p:sp>
      <p:sp>
        <p:nvSpPr>
          <p:cNvPr id="4" name="limits head"/>
          <p:cNvSpPr txBox="1"/>
          <p:nvPr/>
        </p:nvSpPr>
        <p:spPr>
          <a:xfrm>
            <a:off x="777240" y="1536192"/>
            <a:ext cx="3474720" cy="365760"/>
          </a:xfrm>
          <a:prstGeom prst="rect">
            <a:avLst/>
          </a:prstGeom>
          <a:noFill/>
          <a:ln/>
        </p:spPr>
        <p:txBody>
          <a:bodyPr wrap="square" lIns="0" tIns="0" rIns="0" bIns="0" rtlCol="0" anchor="t"/>
          <a:lstStyle/>
          <a:p>
            <a:pPr indent="0" marL="0">
              <a:buNone/>
            </a:pPr>
            <a:r>
              <a:rPr lang="en-US" sz="1800" b="1" dirty="0">
                <a:solidFill>
                  <a:schemeClr val="accent3"/>
                </a:solidFill>
              </a:rPr>
              <a:t>Limitations</a:t>
            </a:r>
            <a:endParaRPr lang="en-US" sz="1800" dirty="0"/>
          </a:p>
        </p:txBody>
      </p:sp>
      <p:sp>
        <p:nvSpPr>
          <p:cNvPr id="5" name="limits list"/>
          <p:cNvSpPr txBox="1"/>
          <p:nvPr/>
        </p:nvSpPr>
        <p:spPr>
          <a:xfrm>
            <a:off x="777240" y="2057400"/>
            <a:ext cx="347472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Loss is emulated above TCP, by dropping whole frames</a:t>
            </a:r>
            <a:endParaRPr lang="en-US" sz="1400" dirty="0"/>
          </a:p>
          <a:p>
            <a:pPr marL="342900" indent="-342900">
              <a:spcAft>
                <a:spcPts val="800"/>
              </a:spcAft>
              <a:buSzPct val="100000"/>
              <a:buChar char="•"/>
            </a:pPr>
            <a:r>
              <a:rPr lang="en-US" sz="1400" dirty="0">
                <a:solidFill>
                  <a:schemeClr val="tx1"/>
                </a:solidFill>
              </a:rPr>
              <a:t>One laptop, loopback, shared clock</a:t>
            </a:r>
            <a:endParaRPr lang="en-US" sz="1400" dirty="0"/>
          </a:p>
          <a:p>
            <a:pPr marL="342900" indent="-342900">
              <a:spcAft>
                <a:spcPts val="800"/>
              </a:spcAft>
              <a:buSzPct val="100000"/>
              <a:buChar char="•"/>
            </a:pPr>
            <a:r>
              <a:rPr lang="en-US" sz="1400" dirty="0">
                <a:solidFill>
                  <a:schemeClr val="tx1"/>
                </a:solidFill>
              </a:rPr>
              <a:t>Three runs of 300 messages</a:t>
            </a:r>
            <a:endParaRPr lang="en-US" sz="1400" dirty="0"/>
          </a:p>
          <a:p>
            <a:pPr marL="342900" indent="-342900">
              <a:spcAft>
                <a:spcPts val="800"/>
              </a:spcAft>
              <a:buSzPct val="100000"/>
              <a:buChar char="•"/>
            </a:pPr>
            <a:r>
              <a:rPr lang="en-US" sz="1400" dirty="0">
                <a:solidFill>
                  <a:schemeClr val="tx1"/>
                </a:solidFill>
              </a:rPr>
              <a:t>No persistence, state is in memory</a:t>
            </a:r>
            <a:endParaRPr lang="en-US" sz="1400" dirty="0"/>
          </a:p>
          <a:p>
            <a:pPr marL="342900" indent="-342900">
              <a:spcAft>
                <a:spcPts val="800"/>
              </a:spcAft>
              <a:buSzPct val="100000"/>
              <a:buChar char="•"/>
            </a:pPr>
            <a:r>
              <a:rPr lang="en-US" sz="1400" dirty="0">
                <a:solidFill>
                  <a:schemeClr val="tx1"/>
                </a:solidFill>
              </a:rPr>
              <a:t>No QoS 2, keep-alive, last-will, TLS or dashboard</a:t>
            </a:r>
            <a:endParaRPr lang="en-US" sz="1400" dirty="0"/>
          </a:p>
        </p:txBody>
      </p:sp>
      <p:sp>
        <p:nvSpPr>
          <p:cNvPr id="6" name="future card"/>
          <p:cNvSpPr/>
          <p:nvPr/>
        </p:nvSpPr>
        <p:spPr>
          <a:xfrm>
            <a:off x="4709160" y="1371600"/>
            <a:ext cx="3886200" cy="3017520"/>
          </a:xfrm>
          <a:prstGeom prst="roundRect">
            <a:avLst>
              <a:gd name="adj" fmla="val 3636"/>
            </a:avLst>
          </a:prstGeom>
          <a:solidFill>
            <a:schemeClr val="bg2"/>
          </a:solidFill>
          <a:ln w="12700">
            <a:solidFill>
              <a:schemeClr val="bg2"/>
            </a:solidFill>
            <a:prstDash val="solid"/>
          </a:ln>
        </p:spPr>
      </p:sp>
      <p:sp>
        <p:nvSpPr>
          <p:cNvPr id="7" name="future head"/>
          <p:cNvSpPr txBox="1"/>
          <p:nvPr/>
        </p:nvSpPr>
        <p:spPr>
          <a:xfrm>
            <a:off x="4937760" y="1536192"/>
            <a:ext cx="3474720" cy="365760"/>
          </a:xfrm>
          <a:prstGeom prst="rect">
            <a:avLst/>
          </a:prstGeom>
          <a:noFill/>
          <a:ln/>
        </p:spPr>
        <p:txBody>
          <a:bodyPr wrap="square" lIns="0" tIns="0" rIns="0" bIns="0" rtlCol="0" anchor="t"/>
          <a:lstStyle/>
          <a:p>
            <a:pPr indent="0" marL="0">
              <a:buNone/>
            </a:pPr>
            <a:r>
              <a:rPr lang="en-US" sz="1800" b="1" dirty="0">
                <a:solidFill>
                  <a:schemeClr val="accent1"/>
                </a:solidFill>
              </a:rPr>
              <a:t>Future work</a:t>
            </a:r>
            <a:endParaRPr lang="en-US" sz="1800" dirty="0"/>
          </a:p>
        </p:txBody>
      </p:sp>
      <p:sp>
        <p:nvSpPr>
          <p:cNvPr id="8" name="future list"/>
          <p:cNvSpPr txBox="1"/>
          <p:nvPr/>
        </p:nvSpPr>
        <p:spPr>
          <a:xfrm>
            <a:off x="4937760" y="2057400"/>
            <a:ext cx="347472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QoS 2 with the four-step handshake</a:t>
            </a:r>
            <a:endParaRPr lang="en-US" sz="1400" dirty="0"/>
          </a:p>
          <a:p>
            <a:pPr marL="342900" indent="-342900">
              <a:spcAft>
                <a:spcPts val="800"/>
              </a:spcAft>
              <a:buSzPct val="100000"/>
              <a:buChar char="•"/>
            </a:pPr>
            <a:r>
              <a:rPr lang="en-US" sz="1400" dirty="0">
                <a:solidFill>
                  <a:schemeClr val="tx1"/>
                </a:solidFill>
              </a:rPr>
              <a:t>Keep-alive and last-will messages</a:t>
            </a:r>
            <a:endParaRPr lang="en-US" sz="1400" dirty="0"/>
          </a:p>
          <a:p>
            <a:pPr marL="342900" indent="-342900">
              <a:spcAft>
                <a:spcPts val="800"/>
              </a:spcAft>
              <a:buSzPct val="100000"/>
              <a:buChar char="•"/>
            </a:pPr>
            <a:r>
              <a:rPr lang="en-US" sz="1400" dirty="0">
                <a:solidFill>
                  <a:schemeClr val="tx1"/>
                </a:solidFill>
              </a:rPr>
              <a:t>TLS and a measurement of its overhead</a:t>
            </a:r>
            <a:endParaRPr lang="en-US" sz="1400" dirty="0"/>
          </a:p>
          <a:p>
            <a:pPr marL="342900" indent="-342900">
              <a:spcAft>
                <a:spcPts val="800"/>
              </a:spcAft>
              <a:buSzPct val="100000"/>
              <a:buChar char="•"/>
            </a:pPr>
            <a:r>
              <a:rPr lang="en-US" sz="1400" dirty="0">
                <a:solidFill>
                  <a:schemeClr val="tx1"/>
                </a:solidFill>
              </a:rPr>
              <a:t>Binary encoding in place of JSON</a:t>
            </a:r>
            <a:endParaRPr lang="en-US" sz="1400" dirty="0"/>
          </a:p>
          <a:p>
            <a:pPr marL="342900" indent="-342900">
              <a:spcAft>
                <a:spcPts val="800"/>
              </a:spcAft>
              <a:buSzPct val="100000"/>
              <a:buChar char="•"/>
            </a:pPr>
            <a:r>
              <a:rPr lang="en-US" sz="1400" dirty="0">
                <a:solidFill>
                  <a:schemeClr val="tx1"/>
                </a:solidFill>
              </a:rPr>
              <a:t>Two machines, real loss with netem</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What we found</a:t>
            </a:r>
            <a:endParaRPr lang="en-US" sz="3600" dirty="0"/>
          </a:p>
        </p:txBody>
      </p:sp>
      <p:sp>
        <p:nvSpPr>
          <p:cNvPr id="3" name="findings"/>
          <p:cNvSpPr txBox="1"/>
          <p:nvPr/>
        </p:nvSpPr>
        <p:spPr>
          <a:xfrm>
            <a:off x="640080" y="1828800"/>
            <a:ext cx="7863840" cy="16459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bg1"/>
                </a:solidFill>
              </a:rPr>
              <a:t>QoS 0 delivery follows (1 - loss) squared: 64% at 20% loss</a:t>
            </a:r>
            <a:endParaRPr lang="en-US" sz="2000" dirty="0"/>
          </a:p>
          <a:p>
            <a:pPr marL="342900" indent="-342900">
              <a:spcAft>
                <a:spcPts val="1200"/>
              </a:spcAft>
              <a:buSzPct val="100000"/>
              <a:buChar char="•"/>
            </a:pPr>
            <a:r>
              <a:rPr lang="en-US" sz="2000" dirty="0">
                <a:solidFill>
                  <a:schemeClr val="bg1"/>
                </a:solidFill>
              </a:rPr>
              <a:t>QoS 1 delivered every message, at about 50 times the latency</a:t>
            </a:r>
            <a:endParaRPr lang="en-US" sz="2000" dirty="0"/>
          </a:p>
          <a:p>
            <a:pPr marL="342900" indent="-342900">
              <a:spcAft>
                <a:spcPts val="1200"/>
              </a:spcAft>
              <a:buSzPct val="100000"/>
              <a:buChar char="•"/>
            </a:pPr>
            <a:r>
              <a:rPr lang="en-US" sz="2000" dirty="0">
                <a:solidFill>
                  <a:schemeClr val="bg1"/>
                </a:solidFill>
              </a:rPr>
              <a:t>Measured retransmissions matched a simple loss model</a:t>
            </a:r>
            <a:endParaRPr lang="en-US" sz="2000" dirty="0"/>
          </a:p>
        </p:txBody>
      </p:sp>
      <p:sp>
        <p:nvSpPr>
          <p:cNvPr id="4" name="closing"/>
          <p:cNvSpPr txBox="1"/>
          <p:nvPr/>
        </p:nvSpPr>
        <p:spPr>
          <a:xfrm>
            <a:off x="640080" y="4023360"/>
            <a:ext cx="7863840" cy="640080"/>
          </a:xfrm>
          <a:prstGeom prst="rect">
            <a:avLst/>
          </a:prstGeom>
          <a:noFill/>
          <a:ln/>
        </p:spPr>
        <p:txBody>
          <a:bodyPr wrap="square" lIns="0" tIns="0" rIns="0" bIns="0" rtlCol="0" anchor="t"/>
          <a:lstStyle/>
          <a:p>
            <a:pPr indent="0" marL="0">
              <a:buNone/>
            </a:pPr>
            <a:r>
              <a:rPr lang="en-US" sz="3200" b="1" dirty="0">
                <a:solidFill>
                  <a:schemeClr val="accent5"/>
                </a:solidFill>
                <a:latin typeface="+mj-lt" pitchFamily="34" charset="0"/>
                <a:ea typeface="+mj-lt" pitchFamily="34" charset="-122"/>
                <a:cs typeface="+mj-lt" pitchFamily="34" charset="-120"/>
              </a:rPr>
              <a:t>Questions?</a:t>
            </a:r>
            <a:endParaRPr lang="en-US" sz="3200" dirty="0"/>
          </a:p>
        </p:txBody>
      </p:sp>
    </p:spTree>
  </p:cSld>
  <p:clrMapOvr>
    <a:masterClrMapping/>
  </p:clrMapOvr>
</p:sld>
</file>

<file path=ppt/theme/theme1.xml><?xml version="1.0" encoding="utf-8"?>
<a:theme xmlns:a="http://schemas.openxmlformats.org/drawingml/2006/main" name="Pubsub">
  <a:themeElements>
    <a:clrScheme name="Pubsub">
      <a:dk1>
        <a:srgbClr val="1F2933"/>
      </a:dk1>
      <a:lt1>
        <a:srgbClr val="FFFFFF"/>
      </a:lt1>
      <a:dk2>
        <a:srgbClr val="16324F"/>
      </a:dk2>
      <a:lt2>
        <a:srgbClr val="E6F1F3"/>
      </a:lt2>
      <a:accent1>
        <a:srgbClr val="1B7F8C"/>
      </a:accent1>
      <a:accent2>
        <a:srgbClr val="E0A030"/>
      </a:accent2>
      <a:accent3>
        <a:srgbClr val="C0392B"/>
      </a:accent3>
      <a:accent4>
        <a:srgbClr val="5B6770"/>
      </a:accent4>
      <a:accent5>
        <a:srgbClr val="7FB7BE"/>
      </a:accent5>
      <a:accent6>
        <a:srgbClr val="2E4A6B"/>
      </a:accent6>
      <a:hlink>
        <a:srgbClr val="1B7F8C"/>
      </a:hlink>
      <a:folHlink>
        <a:srgbClr val="5B6770"/>
      </a:folHlink>
    </a:clrScheme>
    <a:fontScheme name="Pubsub">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Pub-Sub Messaging with QoS 0 and QoS 1</dc:title>
  <dc:subject>PptxGenJS Presentation</dc:subject>
  <dc:creator>PptxGenJS</dc:creator>
  <cp:lastModifiedBy>PptxGenJS</cp:lastModifiedBy>
  <cp:revision>1</cp:revision>
  <dcterms:created xsi:type="dcterms:W3CDTF">2026-10-20T06:03:12Z</dcterms:created>
  <dcterms:modified xsi:type="dcterms:W3CDTF">2026-10-20T06:03:12Z</dcterms:modified>
</cp:coreProperties>
</file>