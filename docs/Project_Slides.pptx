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17d2811-666b-6b7b-1403-71410590de6f}">
          <p14:sldIdLst>
            <p14:sldId id="256"/>
          </p14:sldIdLst>
        </p14:section>
        <p14:section name="Problem and approach" id="{ac81d39c-d0fe-1082-ea3a-d3b1161d86b9}">
          <p14:sldIdLst>
            <p14:sldId id="257"/>
            <p14:sldId id="258"/>
            <p14:sldId id="259"/>
            <p14:sldId id="260"/>
          </p14:sldIdLst>
        </p14:section>
        <p14:section name="Evaluation" id="{f10ea733-ba4a-dac8-9aa8-3846aae47600}">
          <p14:sldIdLst>
            <p14:sldId id="261"/>
            <p14:sldId id="262"/>
            <p14:sldId id="263"/>
            <p14:sldId id="264"/>
          </p14:sldIdLst>
        </p14:section>
        <p14:section name="Wrap-up" id="{3fd12b40-39b1-e6d8-f0b5-ba14709e8ba0}">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Delivery ratio (%)</a:t>
            </a:r>
          </a:p>
        </c:rich>
      </c:tx>
      <c:layout/>
      <c:overlay val="0"/>
    </c:title>
    <c:autoTitleDeleted val="0"/>
    <c:plotArea>
      <c:layout/>
      <c:lineChart>
        <c:varyColors val="0"/>
        <c:ser>
          <c:idx val="0"/>
          <c:order val="0"/>
          <c:tx>
            <c:strRef>
              <c:f>Sheet1!$B$1</c:f>
              <c:strCache>
                <c:ptCount val="1"/>
                <c:pt idx="0">
                  <c:v>QoS 0</c:v>
                </c:pt>
              </c:strCache>
            </c:strRef>
          </c:tx>
          <c:spPr>
            <a:solidFill>
              <a:srgbClr val="E0A030"/>
            </a:solidFill>
            <a:ln w="38100" cap="flat">
              <a:solidFill>
                <a:srgbClr val="E0A03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E0A030"/>
              </a:solidFill>
              <a:ln w="9525" cap="flat">
                <a:solidFill>
                  <a:srgbClr val="E0A030"/>
                </a:solidFill>
                <a:prstDash val="solid"/>
                <a:round/>
              </a:ln>
              <a:effectLst/>
            </c:spPr>
          </c:marker>
          <c:cat>
            <c:multiLvlStrRef>
              <c:f>Sheet1!$A$2:$A$5</c:f>
              <c:multiLvlStrCache>
                <c:ptCount val="4"/>
                <c:lvl>
                  <c:pt idx="0">
                    <c:v>0%</c:v>
                  </c:pt>
                  <c:pt idx="1">
                    <c:v>5%</c:v>
                  </c:pt>
                  <c:pt idx="2">
                    <c:v>10%</c:v>
                  </c:pt>
                  <c:pt idx="3">
                    <c:v>20%</c:v>
                  </c:pt>
                </c:lvl>
              </c:multiLvlStrCache>
            </c:multiLvlStrRef>
          </c:cat>
          <c:val>
            <c:numRef>
              <c:f>Sheet1!$B$2:$B$5</c:f>
              <c:numCache>
                <c:formatCode>General</c:formatCode>
                <c:ptCount val="4"/>
                <c:pt idx="0">
                  <c:v>100</c:v>
                </c:pt>
                <c:pt idx="1">
                  <c:v>89.4</c:v>
                </c:pt>
                <c:pt idx="2">
                  <c:v>82.6</c:v>
                </c:pt>
                <c:pt idx="3">
                  <c:v>63.8</c:v>
                </c:pt>
              </c:numCache>
            </c:numRef>
          </c:val>
          <c:smooth val="0"/>
        </c:ser>
        <c:ser>
          <c:idx val="1"/>
          <c:order val="1"/>
          <c:tx>
            <c:strRef>
              <c:f>Sheet1!$C$1</c:f>
              <c:strCache>
                <c:ptCount val="1"/>
                <c:pt idx="0">
                  <c:v>QoS 1</c:v>
                </c:pt>
              </c:strCache>
            </c:strRef>
          </c:tx>
          <c:spPr>
            <a:solidFill>
              <a:srgbClr val="1B7F8C"/>
            </a:solidFill>
            <a:ln w="38100" cap="flat">
              <a:solidFill>
                <a:srgbClr val="1B7F8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1B7F8C"/>
              </a:solidFill>
              <a:ln w="9525" cap="flat">
                <a:solidFill>
                  <a:srgbClr val="1B7F8C"/>
                </a:solidFill>
                <a:prstDash val="solid"/>
                <a:round/>
              </a:ln>
              <a:effectLst/>
            </c:spPr>
          </c:marker>
          <c:cat>
            <c:multiLvlStrRef>
              <c:f>Sheet1!$A$2:$A$5</c:f>
              <c:multiLvlStrCache>
                <c:ptCount val="4"/>
                <c:lvl>
                  <c:pt idx="0">
                    <c:v>0%</c:v>
                  </c:pt>
                  <c:pt idx="1">
                    <c:v>5%</c:v>
                  </c:pt>
                  <c:pt idx="2">
                    <c:v>10%</c:v>
                  </c:pt>
                  <c:pt idx="3">
                    <c:v>20%</c:v>
                  </c:pt>
                </c:lvl>
              </c:multiLvlStrCache>
            </c:multiLvlStrRef>
          </c:cat>
          <c:val>
            <c:numRef>
              <c:f>Sheet1!$C$2:$C$5</c:f>
              <c:numCache>
                <c:formatCode>General</c:formatCode>
                <c:ptCount val="4"/>
                <c:pt idx="0">
                  <c:v>100</c:v>
                </c:pt>
                <c:pt idx="1">
                  <c:v>100</c:v>
                </c:pt>
                <c:pt idx="2">
                  <c:v>100</c:v>
                </c:pt>
                <c:pt idx="3">
                  <c:v>100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D5D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B67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No loss, 100 subscribers: retransmissions</a:t>
            </a:r>
          </a:p>
        </c:rich>
      </c:tx>
      <c:layout/>
      <c:overlay val="0"/>
    </c:title>
    <c:autoTitleDeleted val="0"/>
    <c:plotArea>
      <c:layout/>
      <c:barChart>
        <c:barDir val="col"/>
        <c:grouping val="clustered"/>
        <c:varyColors val="0"/>
        <c:ser>
          <c:idx val="0"/>
          <c:order val="0"/>
          <c:tx>
            <c:strRef>
              <c:f>Sheet1!$B$1</c:f>
              <c:strCache>
                <c:ptCount val="1"/>
                <c:pt idx="0">
                  <c:v>Retransmissions</c:v>
                </c:pt>
              </c:strCache>
            </c:strRef>
          </c:tx>
          <c:spPr>
            <a:solidFill>
              <a:srgbClr val="1B7F8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Sheet1!$B$2:$B$4</c:f>
              <c:numCache>
                <c:formatCode>General</c:formatCode>
                <c:ptCount val="3"/>
                <c:pt idx="0">
                  <c:v>0</c:v>
                </c:pt>
                <c:pt idx="1">
                  <c:v>0</c:v>
                </c:pt>
                <c:pt idx="2">
                  <c:v>1049</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200"/>
          <c:min val="0"/>
        </c:scaling>
        <c:delete val="0"/>
        <c:axPos val="l"/>
        <c:majorGridlines>
          <c:spPr>
            <a:ln w="9525" cap="flat">
              <a:solidFill>
                <a:srgbClr val="D5DE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breath: we built a publish-subscribe messaging system from scratch on TCP, then broke the network on purpose to see what a delivery guarantee costs. Say who did which part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is reliable for bytes, but messaging systems still lose messages when a connection drops or a message is never processed. The question for the project is the price of the stronger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 0 is the baseline. It is the cheapest behaviour, and under loss the delivery ratio is one minus the loss rate, squared. The related work describes or compares protocols. We did not read each paper in full, only the abstracts, so keep claims about them modest.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follows MQTT QoS 1. What we did is implement it from scratch with a per-hop design, and measure it. A lost acknowledgement looks the same as a lost message to the sender, so the sender resends, and the receiver must recognise the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talk to the broker directly on 1883 or through the lossy proxy on 1884. The proxy drops whole PUBLISH and PUBACK frames. The three numbered steps are the whole QoS 1 algorithm. The full pseudocode and flowcharts are in chapter 3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one laptop over the loopback interface, as separate processes. A fresh broker for each run means counters and subscriptions cannot carry over. About 700 lines of Python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loss scenarios QoS 0 is the baseline and QoS 1 is the proposed mechanism. Latency counts from the first send, so retry delay is included. Throughput under loss mostly reflects our batching and the 0.2 second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delivery against loss. QoS 0 falls with loss, QoS 1 stays at 100 percent. Right: the table has the means and standard deviations. The latency of QoS 0 looks low because only surviving messages are timed. The full set of graphs and tables is in chapter 5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simple: each hop needs one over (one minus p) squared attempts, and duplicates arise when an acknowledgement is lost. The measured values agree within about one and a half standard deviations. The chart on the right is a real weakness we found: with a hundred subscribers and no loss, one of three runs saw about a thousand spurious retransmissions. Our explanation is that the single event loop was busy, but we did not investigate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trade-off: reliability costs latency, traffic and duplicates, and now we have measured numbers for each. The first future item follows directly from the weakness on the previous slide. Full references in IEEE style are in chapter 7 of the report.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Publish-Subscribe Messaging with QoS 0 and QoS 1 over TCP</a:t>
            </a:r>
            <a:endParaRPr lang="en-US" sz="3600" dirty="0"/>
          </a:p>
        </p:txBody>
      </p:sp>
      <p:sp>
        <p:nvSpPr>
          <p:cNvPr id="3" name="subtitle"/>
          <p:cNvSpPr txBox="1"/>
          <p:nvPr/>
        </p:nvSpPr>
        <p:spPr>
          <a:xfrm>
            <a:off x="640080" y="2514600"/>
            <a:ext cx="7863840" cy="457200"/>
          </a:xfrm>
          <a:prstGeom prst="rect">
            <a:avLst/>
          </a:prstGeom>
          <a:noFill/>
          <a:ln/>
        </p:spPr>
        <p:txBody>
          <a:bodyPr wrap="square" lIns="0" tIns="0" rIns="0" bIns="0" rtlCol="0" anchor="t"/>
          <a:lstStyle/>
          <a:p>
            <a:pPr indent="0" marL="0">
              <a:buNone/>
            </a:pPr>
            <a:r>
              <a:rPr lang="en-US" sz="2000" dirty="0">
                <a:solidFill>
                  <a:schemeClr val="accent5"/>
                </a:solidFill>
              </a:rPr>
              <a:t>Performance under emulated message loss</a:t>
            </a:r>
            <a:endParaRPr lang="en-US" sz="2000" dirty="0"/>
          </a:p>
        </p:txBody>
      </p:sp>
      <p:sp>
        <p:nvSpPr>
          <p:cNvPr id="4" name="course"/>
          <p:cNvSpPr txBox="1"/>
          <p:nvPr/>
        </p:nvSpPr>
        <p:spPr>
          <a:xfrm>
            <a:off x="640080" y="3017520"/>
            <a:ext cx="7863840" cy="320040"/>
          </a:xfrm>
          <a:prstGeom prst="rect">
            <a:avLst/>
          </a:prstGeom>
          <a:noFill/>
          <a:ln/>
        </p:spPr>
        <p:txBody>
          <a:bodyPr wrap="square" lIns="0" tIns="0" rIns="0" bIns="0" rtlCol="0" anchor="t"/>
          <a:lstStyle/>
          <a:p>
            <a:pPr indent="0" marL="0">
              <a:buNone/>
            </a:pPr>
            <a:r>
              <a:rPr lang="en-US" sz="1400" dirty="0">
                <a:solidFill>
                  <a:schemeClr val="bg2"/>
                </a:solidFill>
              </a:rPr>
              <a:t>BCSE308P Computer Networks Lab   |   Fall Semester 2026-27</a:t>
            </a:r>
            <a:endParaRPr lang="en-US" sz="1400" dirty="0"/>
          </a:p>
        </p:txBody>
      </p:sp>
      <p:sp>
        <p:nvSpPr>
          <p:cNvPr id="5" name="team"/>
          <p:cNvSpPr txBox="1"/>
          <p:nvPr/>
        </p:nvSpPr>
        <p:spPr>
          <a:xfrm>
            <a:off x="640080" y="3383280"/>
            <a:ext cx="7863840" cy="320040"/>
          </a:xfrm>
          <a:prstGeom prst="rect">
            <a:avLst/>
          </a:prstGeom>
          <a:noFill/>
          <a:ln/>
        </p:spPr>
        <p:txBody>
          <a:bodyPr wrap="square" lIns="0" tIns="0" rIns="0" bIns="0" rtlCol="0" anchor="t"/>
          <a:lstStyle/>
          <a:p>
            <a:pPr indent="0" marL="0">
              <a:buNone/>
            </a:pPr>
            <a:r>
              <a:rPr lang="en-US" sz="1400" dirty="0">
                <a:solidFill>
                  <a:schemeClr val="bg2"/>
                </a:solidFill>
              </a:rPr>
              <a:t>Student Name 1 (Reg. No. 1),  Student Name 2 (Reg. No. 2)</a:t>
            </a:r>
            <a:endParaRPr lang="en-US" sz="1400" dirty="0"/>
          </a:p>
        </p:txBody>
      </p:sp>
      <p:sp>
        <p:nvSpPr>
          <p:cNvPr id="6" name="node Publisher"/>
          <p:cNvSpPr/>
          <p:nvPr/>
        </p:nvSpPr>
        <p:spPr>
          <a:xfrm>
            <a:off x="640080" y="4023360"/>
            <a:ext cx="2103120" cy="594360"/>
          </a:xfrm>
          <a:prstGeom prst="roundRect">
            <a:avLst>
              <a:gd name="adj" fmla="val 18462"/>
            </a:avLst>
          </a:prstGeom>
          <a:solidFill>
            <a:schemeClr val="accent6"/>
          </a:solidFill>
          <a:ln w="12700">
            <a:solidFill>
              <a:schemeClr val="accent5"/>
            </a:solidFill>
            <a:prstDash val="solid"/>
          </a:ln>
        </p:spPr>
      </p:sp>
      <p:sp>
        <p:nvSpPr>
          <p:cNvPr id="7" name="node label Publisher"/>
          <p:cNvSpPr txBox="1"/>
          <p:nvPr/>
        </p:nvSpPr>
        <p:spPr>
          <a:xfrm>
            <a:off x="640080" y="4023360"/>
            <a:ext cx="2103120" cy="594360"/>
          </a:xfrm>
          <a:prstGeom prst="rect">
            <a:avLst/>
          </a:prstGeom>
          <a:noFill/>
          <a:ln/>
        </p:spPr>
        <p:txBody>
          <a:bodyPr wrap="square" lIns="0" tIns="0" rIns="0" bIns="0" rtlCol="0" anchor="ctr"/>
          <a:lstStyle/>
          <a:p>
            <a:pPr algn="ctr" indent="0" marL="0">
              <a:buNone/>
            </a:pPr>
            <a:r>
              <a:rPr lang="en-US" sz="1600" b="1" dirty="0">
                <a:solidFill>
                  <a:schemeClr val="bg1"/>
                </a:solidFill>
              </a:rPr>
              <a:t>Publisher</a:t>
            </a:r>
            <a:endParaRPr lang="en-US" sz="1600" dirty="0"/>
          </a:p>
        </p:txBody>
      </p:sp>
      <p:sp>
        <p:nvSpPr>
          <p:cNvPr id="8" name="node Broker"/>
          <p:cNvSpPr/>
          <p:nvPr/>
        </p:nvSpPr>
        <p:spPr>
          <a:xfrm>
            <a:off x="3520440" y="4023360"/>
            <a:ext cx="2103120" cy="594360"/>
          </a:xfrm>
          <a:prstGeom prst="roundRect">
            <a:avLst>
              <a:gd name="adj" fmla="val 18462"/>
            </a:avLst>
          </a:prstGeom>
          <a:solidFill>
            <a:schemeClr val="accent1"/>
          </a:solidFill>
          <a:ln w="12700">
            <a:solidFill>
              <a:schemeClr val="accent5"/>
            </a:solidFill>
            <a:prstDash val="solid"/>
          </a:ln>
        </p:spPr>
      </p:sp>
      <p:sp>
        <p:nvSpPr>
          <p:cNvPr id="9" name="node label Broker"/>
          <p:cNvSpPr txBox="1"/>
          <p:nvPr/>
        </p:nvSpPr>
        <p:spPr>
          <a:xfrm>
            <a:off x="3520440" y="4023360"/>
            <a:ext cx="2103120" cy="594360"/>
          </a:xfrm>
          <a:prstGeom prst="rect">
            <a:avLst/>
          </a:prstGeom>
          <a:noFill/>
          <a:ln/>
        </p:spPr>
        <p:txBody>
          <a:bodyPr wrap="square" lIns="0" tIns="0" rIns="0" bIns="0" rtlCol="0" anchor="ctr"/>
          <a:lstStyle/>
          <a:p>
            <a:pPr algn="ctr" indent="0" marL="0">
              <a:buNone/>
            </a:pPr>
            <a:r>
              <a:rPr lang="en-US" sz="1600" b="1" dirty="0">
                <a:solidFill>
                  <a:schemeClr val="bg1"/>
                </a:solidFill>
              </a:rPr>
              <a:t>Broker</a:t>
            </a:r>
            <a:endParaRPr lang="en-US" sz="1600" dirty="0"/>
          </a:p>
        </p:txBody>
      </p:sp>
      <p:sp>
        <p:nvSpPr>
          <p:cNvPr id="10" name="node Subscriber"/>
          <p:cNvSpPr/>
          <p:nvPr/>
        </p:nvSpPr>
        <p:spPr>
          <a:xfrm>
            <a:off x="6400800" y="4023360"/>
            <a:ext cx="2103120" cy="594360"/>
          </a:xfrm>
          <a:prstGeom prst="roundRect">
            <a:avLst>
              <a:gd name="adj" fmla="val 18462"/>
            </a:avLst>
          </a:prstGeom>
          <a:solidFill>
            <a:schemeClr val="accent6"/>
          </a:solidFill>
          <a:ln w="12700">
            <a:solidFill>
              <a:schemeClr val="accent5"/>
            </a:solidFill>
            <a:prstDash val="solid"/>
          </a:ln>
        </p:spPr>
      </p:sp>
      <p:sp>
        <p:nvSpPr>
          <p:cNvPr id="11" name="node label Subscriber"/>
          <p:cNvSpPr txBox="1"/>
          <p:nvPr/>
        </p:nvSpPr>
        <p:spPr>
          <a:xfrm>
            <a:off x="6400800" y="4023360"/>
            <a:ext cx="2103120" cy="594360"/>
          </a:xfrm>
          <a:prstGeom prst="rect">
            <a:avLst/>
          </a:prstGeom>
          <a:noFill/>
          <a:ln/>
        </p:spPr>
        <p:txBody>
          <a:bodyPr wrap="square" lIns="0" tIns="0" rIns="0" bIns="0" rtlCol="0" anchor="ctr"/>
          <a:lstStyle/>
          <a:p>
            <a:pPr algn="ctr" indent="0" marL="0">
              <a:buNone/>
            </a:pPr>
            <a:r>
              <a:rPr lang="en-US" sz="1600" b="1" dirty="0">
                <a:solidFill>
                  <a:schemeClr val="bg1"/>
                </a:solidFill>
              </a:rPr>
              <a:t>Subscriber</a:t>
            </a:r>
            <a:endParaRPr lang="en-US" sz="1600" dirty="0"/>
          </a:p>
        </p:txBody>
      </p:sp>
      <p:sp>
        <p:nvSpPr>
          <p:cNvPr id="12" name="link 0"/>
          <p:cNvSpPr/>
          <p:nvPr/>
        </p:nvSpPr>
        <p:spPr>
          <a:xfrm>
            <a:off x="2743200" y="4320540"/>
            <a:ext cx="777240" cy="0"/>
          </a:xfrm>
          <a:prstGeom prst="line">
            <a:avLst/>
          </a:prstGeom>
          <a:noFill/>
          <a:ln w="25400">
            <a:solidFill>
              <a:schemeClr val="accent5"/>
            </a:solidFill>
            <a:prstDash val="solid"/>
            <a:tailEnd type="triangle"/>
          </a:ln>
        </p:spPr>
      </p:sp>
      <p:sp>
        <p:nvSpPr>
          <p:cNvPr id="13" name="link 1"/>
          <p:cNvSpPr/>
          <p:nvPr/>
        </p:nvSpPr>
        <p:spPr>
          <a:xfrm>
            <a:off x="5623560" y="4320540"/>
            <a:ext cx="777240" cy="0"/>
          </a:xfrm>
          <a:prstGeom prst="line">
            <a:avLst/>
          </a:prstGeom>
          <a:noFill/>
          <a:ln w="25400">
            <a:solidFill>
              <a:schemeClr val="accent5"/>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Problem and motivation</a:t>
            </a:r>
            <a:endParaRPr lang="en-US" sz="3000" dirty="0"/>
          </a:p>
        </p:txBody>
      </p:sp>
      <p:sp>
        <p:nvSpPr>
          <p:cNvPr id="3" name="badge 1"/>
          <p:cNvSpPr/>
          <p:nvPr/>
        </p:nvSpPr>
        <p:spPr>
          <a:xfrm>
            <a:off x="548640" y="1371600"/>
            <a:ext cx="420624" cy="420624"/>
          </a:xfrm>
          <a:prstGeom prst="ellipse">
            <a:avLst/>
          </a:prstGeom>
          <a:solidFill>
            <a:schemeClr val="accent1"/>
          </a:solidFill>
          <a:ln w="12700">
            <a:solidFill>
              <a:schemeClr val="accent1"/>
            </a:solidFill>
            <a:prstDash val="solid"/>
          </a:ln>
        </p:spPr>
      </p:sp>
      <p:sp>
        <p:nvSpPr>
          <p:cNvPr id="4" name="badge text 1"/>
          <p:cNvSpPr txBox="1"/>
          <p:nvPr/>
        </p:nvSpPr>
        <p:spPr>
          <a:xfrm>
            <a:off x="548640" y="1371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row head 0"/>
          <p:cNvSpPr txBox="1"/>
          <p:nvPr/>
        </p:nvSpPr>
        <p:spPr>
          <a:xfrm>
            <a:off x="1188720" y="1325880"/>
            <a:ext cx="4206240" cy="320040"/>
          </a:xfrm>
          <a:prstGeom prst="rect">
            <a:avLst/>
          </a:prstGeom>
          <a:noFill/>
          <a:ln/>
        </p:spPr>
        <p:txBody>
          <a:bodyPr wrap="square" lIns="0" tIns="0" rIns="0" bIns="0" rtlCol="0" anchor="t"/>
          <a:lstStyle/>
          <a:p>
            <a:pPr indent="0" marL="0">
              <a:buNone/>
            </a:pPr>
            <a:r>
              <a:rPr lang="en-US" sz="1800" b="1" dirty="0">
                <a:solidFill>
                  <a:schemeClr val="tx2"/>
                </a:solidFill>
              </a:rPr>
              <a:t>One source, many consumers</a:t>
            </a:r>
            <a:endParaRPr lang="en-US" sz="1800" dirty="0"/>
          </a:p>
        </p:txBody>
      </p:sp>
      <p:sp>
        <p:nvSpPr>
          <p:cNvPr id="6" name="row text 0"/>
          <p:cNvSpPr txBox="1"/>
          <p:nvPr/>
        </p:nvSpPr>
        <p:spPr>
          <a:xfrm>
            <a:off x="1188720" y="1691640"/>
            <a:ext cx="4297680" cy="685800"/>
          </a:xfrm>
          <a:prstGeom prst="rect">
            <a:avLst/>
          </a:prstGeom>
          <a:noFill/>
          <a:ln/>
        </p:spPr>
        <p:txBody>
          <a:bodyPr wrap="square" lIns="0" tIns="0" rIns="0" bIns="0" rtlCol="0" anchor="t"/>
          <a:lstStyle/>
          <a:p>
            <a:pPr indent="0" marL="0">
              <a:buNone/>
            </a:pPr>
            <a:r>
              <a:rPr lang="en-US" sz="1400" dirty="0">
                <a:solidFill>
                  <a:schemeClr val="tx1"/>
                </a:solidFill>
              </a:rPr>
              <a:t>A sensor may feed a display, a logger and an alarm. Direct links make every new consumer a code change.</a:t>
            </a:r>
            <a:endParaRPr lang="en-US" sz="1400" dirty="0"/>
          </a:p>
        </p:txBody>
      </p:sp>
      <p:sp>
        <p:nvSpPr>
          <p:cNvPr id="7" name="badge 2"/>
          <p:cNvSpPr/>
          <p:nvPr/>
        </p:nvSpPr>
        <p:spPr>
          <a:xfrm>
            <a:off x="548640" y="2468880"/>
            <a:ext cx="420624" cy="420624"/>
          </a:xfrm>
          <a:prstGeom prst="ellipse">
            <a:avLst/>
          </a:prstGeom>
          <a:solidFill>
            <a:schemeClr val="accent1"/>
          </a:solidFill>
          <a:ln w="12700">
            <a:solidFill>
              <a:schemeClr val="accent1"/>
            </a:solidFill>
            <a:prstDash val="solid"/>
          </a:ln>
        </p:spPr>
      </p:sp>
      <p:sp>
        <p:nvSpPr>
          <p:cNvPr id="8" name="badge text 2"/>
          <p:cNvSpPr txBox="1"/>
          <p:nvPr/>
        </p:nvSpPr>
        <p:spPr>
          <a:xfrm>
            <a:off x="548640" y="2468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row head 1"/>
          <p:cNvSpPr txBox="1"/>
          <p:nvPr/>
        </p:nvSpPr>
        <p:spPr>
          <a:xfrm>
            <a:off x="1188720" y="2423160"/>
            <a:ext cx="4206240" cy="320040"/>
          </a:xfrm>
          <a:prstGeom prst="rect">
            <a:avLst/>
          </a:prstGeom>
          <a:noFill/>
          <a:ln/>
        </p:spPr>
        <p:txBody>
          <a:bodyPr wrap="square" lIns="0" tIns="0" rIns="0" bIns="0" rtlCol="0" anchor="t"/>
          <a:lstStyle/>
          <a:p>
            <a:pPr indent="0" marL="0">
              <a:buNone/>
            </a:pPr>
            <a:r>
              <a:rPr lang="en-US" sz="1800" b="1" dirty="0">
                <a:solidFill>
                  <a:schemeClr val="tx2"/>
                </a:solidFill>
              </a:rPr>
              <a:t>A broker decouples them</a:t>
            </a:r>
            <a:endParaRPr lang="en-US" sz="1800" dirty="0"/>
          </a:p>
        </p:txBody>
      </p:sp>
      <p:sp>
        <p:nvSpPr>
          <p:cNvPr id="10" name="row text 1"/>
          <p:cNvSpPr txBox="1"/>
          <p:nvPr/>
        </p:nvSpPr>
        <p:spPr>
          <a:xfrm>
            <a:off x="1188720" y="2788920"/>
            <a:ext cx="4297680" cy="685800"/>
          </a:xfrm>
          <a:prstGeom prst="rect">
            <a:avLst/>
          </a:prstGeom>
          <a:noFill/>
          <a:ln/>
        </p:spPr>
        <p:txBody>
          <a:bodyPr wrap="square" lIns="0" tIns="0" rIns="0" bIns="0" rtlCol="0" anchor="t"/>
          <a:lstStyle/>
          <a:p>
            <a:pPr indent="0" marL="0">
              <a:buNone/>
            </a:pPr>
            <a:r>
              <a:rPr lang="en-US" sz="1400" dirty="0">
                <a:solidFill>
                  <a:schemeClr val="tx1"/>
                </a:solidFill>
              </a:rPr>
              <a:t>Publishers send to a topic. The broker forwards to every subscriber whose filter matches.</a:t>
            </a:r>
            <a:endParaRPr lang="en-US" sz="1400" dirty="0"/>
          </a:p>
        </p:txBody>
      </p:sp>
      <p:sp>
        <p:nvSpPr>
          <p:cNvPr id="11" name="badge 3"/>
          <p:cNvSpPr/>
          <p:nvPr/>
        </p:nvSpPr>
        <p:spPr>
          <a:xfrm>
            <a:off x="548640" y="3566160"/>
            <a:ext cx="420624" cy="420624"/>
          </a:xfrm>
          <a:prstGeom prst="ellipse">
            <a:avLst/>
          </a:prstGeom>
          <a:solidFill>
            <a:schemeClr val="accent1"/>
          </a:solidFill>
          <a:ln w="12700">
            <a:solidFill>
              <a:schemeClr val="accent1"/>
            </a:solidFill>
            <a:prstDash val="solid"/>
          </a:ln>
        </p:spPr>
      </p:sp>
      <p:sp>
        <p:nvSpPr>
          <p:cNvPr id="12" name="badge text 3"/>
          <p:cNvSpPr txBox="1"/>
          <p:nvPr/>
        </p:nvSpPr>
        <p:spPr>
          <a:xfrm>
            <a:off x="548640" y="35661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row head 2"/>
          <p:cNvSpPr txBox="1"/>
          <p:nvPr/>
        </p:nvSpPr>
        <p:spPr>
          <a:xfrm>
            <a:off x="1188720" y="3520440"/>
            <a:ext cx="4206240" cy="320040"/>
          </a:xfrm>
          <a:prstGeom prst="rect">
            <a:avLst/>
          </a:prstGeom>
          <a:noFill/>
          <a:ln/>
        </p:spPr>
        <p:txBody>
          <a:bodyPr wrap="square" lIns="0" tIns="0" rIns="0" bIns="0" rtlCol="0" anchor="t"/>
          <a:lstStyle/>
          <a:p>
            <a:pPr indent="0" marL="0">
              <a:buNone/>
            </a:pPr>
            <a:r>
              <a:rPr lang="en-US" sz="1800" b="1" dirty="0">
                <a:solidFill>
                  <a:schemeClr val="tx2"/>
                </a:solidFill>
              </a:rPr>
              <a:t>Reliability has a price</a:t>
            </a:r>
            <a:endParaRPr lang="en-US" sz="1800" dirty="0"/>
          </a:p>
        </p:txBody>
      </p:sp>
      <p:sp>
        <p:nvSpPr>
          <p:cNvPr id="14" name="row text 2"/>
          <p:cNvSpPr txBox="1"/>
          <p:nvPr/>
        </p:nvSpPr>
        <p:spPr>
          <a:xfrm>
            <a:off x="1188720" y="3886200"/>
            <a:ext cx="4297680" cy="685800"/>
          </a:xfrm>
          <a:prstGeom prst="rect">
            <a:avLst/>
          </a:prstGeom>
          <a:noFill/>
          <a:ln/>
        </p:spPr>
        <p:txBody>
          <a:bodyPr wrap="square" lIns="0" tIns="0" rIns="0" bIns="0" rtlCol="0" anchor="t"/>
          <a:lstStyle/>
          <a:p>
            <a:pPr indent="0" marL="0">
              <a:buNone/>
            </a:pPr>
            <a:r>
              <a:rPr lang="en-US" sz="1400" dirty="0">
                <a:solidFill>
                  <a:schemeClr val="tx1"/>
                </a:solidFill>
              </a:rPr>
              <a:t>Acknowledgements make delivery safer, but cost time and traffic. How much?</a:t>
            </a:r>
            <a:endParaRPr lang="en-US" sz="1400" dirty="0"/>
          </a:p>
        </p:txBody>
      </p:sp>
      <p:sp>
        <p:nvSpPr>
          <p:cNvPr id="15" name="problem card"/>
          <p:cNvSpPr/>
          <p:nvPr/>
        </p:nvSpPr>
        <p:spPr>
          <a:xfrm>
            <a:off x="5852160" y="1325880"/>
            <a:ext cx="2743200" cy="3291840"/>
          </a:xfrm>
          <a:prstGeom prst="roundRect">
            <a:avLst>
              <a:gd name="adj" fmla="val 4000"/>
            </a:avLst>
          </a:prstGeom>
          <a:solidFill>
            <a:schemeClr val="bg2"/>
          </a:solidFill>
          <a:ln w="12700">
            <a:solidFill>
              <a:schemeClr val="bg2"/>
            </a:solidFill>
            <a:prstDash val="solid"/>
          </a:ln>
        </p:spPr>
      </p:sp>
      <p:sp>
        <p:nvSpPr>
          <p:cNvPr id="16" name="problem head"/>
          <p:cNvSpPr txBox="1"/>
          <p:nvPr/>
        </p:nvSpPr>
        <p:spPr>
          <a:xfrm>
            <a:off x="6080760" y="1508760"/>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Problem statement</a:t>
            </a:r>
            <a:endParaRPr lang="en-US" sz="1800" dirty="0"/>
          </a:p>
        </p:txBody>
      </p:sp>
      <p:sp>
        <p:nvSpPr>
          <p:cNvPr id="17" name="problem text"/>
          <p:cNvSpPr txBox="1"/>
          <p:nvPr/>
        </p:nvSpPr>
        <p:spPr>
          <a:xfrm>
            <a:off x="6080760" y="1965960"/>
            <a:ext cx="2286000" cy="2560320"/>
          </a:xfrm>
          <a:prstGeom prst="rect">
            <a:avLst/>
          </a:prstGeom>
          <a:noFill/>
          <a:ln/>
        </p:spPr>
        <p:txBody>
          <a:bodyPr wrap="square" lIns="0" tIns="0" rIns="0" bIns="0" rtlCol="0" anchor="t"/>
          <a:lstStyle/>
          <a:p>
            <a:pPr indent="0" marL="0">
              <a:buNone/>
            </a:pPr>
            <a:r>
              <a:rPr lang="en-US" sz="1600" dirty="0">
                <a:solidFill>
                  <a:schemeClr val="tx1"/>
                </a:solidFill>
              </a:rPr>
              <a:t>When messages are lost, how much latency, extra traffic and duplicate delivery does at-least-once delivery cost?</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Existing approach and its gap</a:t>
            </a:r>
            <a:endParaRPr lang="en-US" sz="3000" dirty="0"/>
          </a:p>
        </p:txBody>
      </p:sp>
      <p:sp>
        <p:nvSpPr>
          <p:cNvPr id="3" name="baseline card"/>
          <p:cNvSpPr/>
          <p:nvPr/>
        </p:nvSpPr>
        <p:spPr>
          <a:xfrm>
            <a:off x="548640" y="1325880"/>
            <a:ext cx="3931920" cy="1783080"/>
          </a:xfrm>
          <a:prstGeom prst="roundRect">
            <a:avLst>
              <a:gd name="adj" fmla="val 6154"/>
            </a:avLst>
          </a:prstGeom>
          <a:solidFill>
            <a:schemeClr val="bg2"/>
          </a:solidFill>
          <a:ln w="12700">
            <a:solidFill>
              <a:schemeClr val="bg2"/>
            </a:solidFill>
            <a:prstDash val="solid"/>
          </a:ln>
        </p:spPr>
      </p:sp>
      <p:sp>
        <p:nvSpPr>
          <p:cNvPr id="4" name="baseline head"/>
          <p:cNvSpPr txBox="1"/>
          <p:nvPr/>
        </p:nvSpPr>
        <p:spPr>
          <a:xfrm>
            <a:off x="731520" y="1444752"/>
            <a:ext cx="3566160" cy="320040"/>
          </a:xfrm>
          <a:prstGeom prst="rect">
            <a:avLst/>
          </a:prstGeom>
          <a:noFill/>
          <a:ln/>
        </p:spPr>
        <p:txBody>
          <a:bodyPr wrap="square" lIns="0" tIns="0" rIns="0" bIns="0" rtlCol="0" anchor="t"/>
          <a:lstStyle/>
          <a:p>
            <a:pPr indent="0" marL="0">
              <a:buNone/>
            </a:pPr>
            <a:r>
              <a:rPr lang="en-US" sz="1600" b="1" dirty="0">
                <a:solidFill>
                  <a:schemeClr val="tx2"/>
                </a:solidFill>
              </a:rPr>
              <a:t>Baseline: QoS 0 (best effort)</a:t>
            </a:r>
            <a:endParaRPr lang="en-US" sz="1600" dirty="0"/>
          </a:p>
        </p:txBody>
      </p:sp>
      <p:sp>
        <p:nvSpPr>
          <p:cNvPr id="5" name="baseline text"/>
          <p:cNvSpPr txBox="1"/>
          <p:nvPr/>
        </p:nvSpPr>
        <p:spPr>
          <a:xfrm>
            <a:off x="731520" y="1828800"/>
            <a:ext cx="3566160" cy="1234440"/>
          </a:xfrm>
          <a:prstGeom prst="rect">
            <a:avLst/>
          </a:prstGeom>
          <a:noFill/>
          <a:ln/>
        </p:spPr>
        <p:txBody>
          <a:bodyPr wrap="square" lIns="0" tIns="0" rIns="0" bIns="0" rtlCol="0" anchor="t"/>
          <a:lstStyle/>
          <a:p>
            <a:pPr indent="0" marL="0">
              <a:buNone/>
            </a:pPr>
            <a:r>
              <a:rPr lang="en-US" sz="1400" dirty="0">
                <a:solidFill>
                  <a:schemeClr val="tx1"/>
                </a:solidFill>
              </a:rPr>
              <a:t>Send once, never check. This is the behaviour of MQTT QoS 0 [1]. A message must survive two hops, so it arrives with probability (1 - p) squared.</a:t>
            </a:r>
            <a:endParaRPr lang="en-US" sz="1400" dirty="0"/>
          </a:p>
        </p:txBody>
      </p:sp>
      <p:sp>
        <p:nvSpPr>
          <p:cNvPr id="6" name="gap card"/>
          <p:cNvSpPr/>
          <p:nvPr/>
        </p:nvSpPr>
        <p:spPr>
          <a:xfrm>
            <a:off x="4663440" y="1325880"/>
            <a:ext cx="3931920" cy="1783080"/>
          </a:xfrm>
          <a:prstGeom prst="roundRect">
            <a:avLst>
              <a:gd name="adj" fmla="val 6154"/>
            </a:avLst>
          </a:prstGeom>
          <a:solidFill>
            <a:schemeClr val="bg2"/>
          </a:solidFill>
          <a:ln w="12700">
            <a:solidFill>
              <a:schemeClr val="bg2"/>
            </a:solidFill>
            <a:prstDash val="solid"/>
          </a:ln>
        </p:spPr>
      </p:sp>
      <p:sp>
        <p:nvSpPr>
          <p:cNvPr id="7" name="gap number"/>
          <p:cNvSpPr txBox="1"/>
          <p:nvPr/>
        </p:nvSpPr>
        <p:spPr>
          <a:xfrm>
            <a:off x="4846320" y="1371600"/>
            <a:ext cx="1737360" cy="914400"/>
          </a:xfrm>
          <a:prstGeom prst="rect">
            <a:avLst/>
          </a:prstGeom>
          <a:noFill/>
          <a:ln/>
        </p:spPr>
        <p:txBody>
          <a:bodyPr wrap="square" lIns="0" tIns="0" rIns="0" bIns="0" rtlCol="0" anchor="ctr"/>
          <a:lstStyle/>
          <a:p>
            <a:pPr indent="0" marL="0">
              <a:buNone/>
            </a:pPr>
            <a:r>
              <a:rPr lang="en-US" sz="4400" b="1" dirty="0">
                <a:solidFill>
                  <a:schemeClr val="accent3"/>
                </a:solidFill>
                <a:latin typeface="+mj-lt" pitchFamily="34" charset="0"/>
                <a:ea typeface="+mj-lt" pitchFamily="34" charset="-122"/>
                <a:cs typeface="+mj-lt" pitchFamily="34" charset="-120"/>
              </a:rPr>
              <a:t>63.8%</a:t>
            </a:r>
            <a:endParaRPr lang="en-US" sz="4400" dirty="0"/>
          </a:p>
        </p:txBody>
      </p:sp>
      <p:sp>
        <p:nvSpPr>
          <p:cNvPr id="8" name="gap label"/>
          <p:cNvSpPr txBox="1"/>
          <p:nvPr/>
        </p:nvSpPr>
        <p:spPr>
          <a:xfrm>
            <a:off x="6583680" y="1481328"/>
            <a:ext cx="1874520" cy="1463040"/>
          </a:xfrm>
          <a:prstGeom prst="rect">
            <a:avLst/>
          </a:prstGeom>
          <a:noFill/>
          <a:ln/>
        </p:spPr>
        <p:txBody>
          <a:bodyPr wrap="square" lIns="0" tIns="0" rIns="0" bIns="0" rtlCol="0" anchor="ctr"/>
          <a:lstStyle/>
          <a:p>
            <a:pPr indent="0" marL="0">
              <a:buNone/>
            </a:pPr>
            <a:r>
              <a:rPr lang="en-US" sz="1400" dirty="0">
                <a:solidFill>
                  <a:schemeClr val="tx1"/>
                </a:solidFill>
              </a:rPr>
              <a:t>delivered at 20% loss. The other messages vanish without any signal.</a:t>
            </a:r>
            <a:endParaRPr lang="en-US" sz="1400" dirty="0"/>
          </a:p>
        </p:txBody>
      </p:sp>
      <p:sp>
        <p:nvSpPr>
          <p:cNvPr id="9" name="gap head"/>
          <p:cNvSpPr txBox="1"/>
          <p:nvPr/>
        </p:nvSpPr>
        <p:spPr>
          <a:xfrm>
            <a:off x="4846320" y="2377440"/>
            <a:ext cx="3566160" cy="274320"/>
          </a:xfrm>
          <a:prstGeom prst="rect">
            <a:avLst/>
          </a:prstGeom>
          <a:noFill/>
          <a:ln/>
        </p:spPr>
        <p:txBody>
          <a:bodyPr wrap="square" lIns="0" tIns="0" rIns="0" bIns="0" rtlCol="0" anchor="t"/>
          <a:lstStyle/>
          <a:p>
            <a:pPr indent="0" marL="0">
              <a:buNone/>
            </a:pPr>
            <a:r>
              <a:rPr lang="en-US" sz="1400" b="1" dirty="0">
                <a:solidFill>
                  <a:schemeClr val="tx2"/>
                </a:solidFill>
              </a:rPr>
              <a:t>The gap</a:t>
            </a:r>
            <a:endParaRPr lang="en-US" sz="1400" dirty="0"/>
          </a:p>
        </p:txBody>
      </p:sp>
      <p:sp>
        <p:nvSpPr>
          <p:cNvPr id="10" name="gap text"/>
          <p:cNvSpPr txBox="1"/>
          <p:nvPr/>
        </p:nvSpPr>
        <p:spPr>
          <a:xfrm>
            <a:off x="4846320" y="2651760"/>
            <a:ext cx="3566160" cy="365760"/>
          </a:xfrm>
          <a:prstGeom prst="rect">
            <a:avLst/>
          </a:prstGeom>
          <a:noFill/>
          <a:ln/>
        </p:spPr>
        <p:txBody>
          <a:bodyPr wrap="square" lIns="0" tIns="0" rIns="0" bIns="0" rtlCol="0" anchor="t"/>
          <a:lstStyle/>
          <a:p>
            <a:pPr indent="0" marL="0">
              <a:buNone/>
            </a:pPr>
            <a:r>
              <a:rPr lang="en-US" sz="1400" dirty="0">
                <a:solidFill>
                  <a:schemeClr val="tx1"/>
                </a:solidFill>
              </a:rPr>
              <a:t>Loss is silent and cannot be repaired.</a:t>
            </a:r>
            <a:endParaRPr lang="en-US" sz="1400" dirty="0"/>
          </a:p>
        </p:txBody>
      </p:sp>
      <p:sp>
        <p:nvSpPr>
          <p:cNvPr id="11" name="related head"/>
          <p:cNvSpPr txBox="1"/>
          <p:nvPr/>
        </p:nvSpPr>
        <p:spPr>
          <a:xfrm>
            <a:off x="548640" y="3337560"/>
            <a:ext cx="8046720" cy="320040"/>
          </a:xfrm>
          <a:prstGeom prst="rect">
            <a:avLst/>
          </a:prstGeom>
          <a:noFill/>
          <a:ln/>
        </p:spPr>
        <p:txBody>
          <a:bodyPr wrap="square" lIns="0" tIns="0" rIns="0" bIns="0" rtlCol="0" anchor="t"/>
          <a:lstStyle/>
          <a:p>
            <a:pPr indent="0" marL="0">
              <a:buNone/>
            </a:pPr>
            <a:r>
              <a:rPr lang="en-US" sz="1600" b="1" dirty="0">
                <a:solidFill>
                  <a:schemeClr val="accent1"/>
                </a:solidFill>
              </a:rPr>
              <a:t>Related work</a:t>
            </a:r>
            <a:endParaRPr lang="en-US" sz="1600" dirty="0"/>
          </a:p>
        </p:txBody>
      </p:sp>
      <p:sp>
        <p:nvSpPr>
          <p:cNvPr id="12" name="related text"/>
          <p:cNvSpPr txBox="1"/>
          <p:nvPr/>
        </p:nvSpPr>
        <p:spPr>
          <a:xfrm>
            <a:off x="548640" y="3703320"/>
            <a:ext cx="8046720" cy="960120"/>
          </a:xfrm>
          <a:prstGeom prst="rect">
            <a:avLst/>
          </a:prstGeom>
          <a:noFill/>
          <a:ln/>
        </p:spPr>
        <p:txBody>
          <a:bodyPr wrap="square" lIns="0" tIns="0" rIns="0" bIns="0" rtlCol="0" anchor="t"/>
          <a:lstStyle/>
          <a:p>
            <a:pPr indent="0" marL="0">
              <a:buNone/>
            </a:pPr>
            <a:r>
              <a:rPr lang="en-US" sz="1400" dirty="0">
                <a:solidFill>
                  <a:schemeClr val="tx1"/>
                </a:solidFill>
              </a:rPr>
              <a:t>The MQTT standard [1] and the Mosquitto broker [6] define and implement the QoS levels. Surveys and comparisons [2, 4, 5] describe or compare protocols. We wanted a readable implementation, measured under controlled loss.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Proposed mechanism: QoS 1</a:t>
            </a:r>
            <a:endParaRPr lang="en-US" sz="3000" dirty="0"/>
          </a:p>
        </p:txBody>
      </p:sp>
      <p:sp>
        <p:nvSpPr>
          <p:cNvPr id="3" name="badge 1"/>
          <p:cNvSpPr/>
          <p:nvPr/>
        </p:nvSpPr>
        <p:spPr>
          <a:xfrm>
            <a:off x="548640" y="1325880"/>
            <a:ext cx="365760" cy="365760"/>
          </a:xfrm>
          <a:prstGeom prst="ellipse">
            <a:avLst/>
          </a:prstGeom>
          <a:solidFill>
            <a:schemeClr val="accent1"/>
          </a:solidFill>
          <a:ln w="12700">
            <a:solidFill>
              <a:schemeClr val="accent1"/>
            </a:solidFill>
            <a:prstDash val="solid"/>
          </a:ln>
        </p:spPr>
      </p:sp>
      <p:sp>
        <p:nvSpPr>
          <p:cNvPr id="4" name="badge text 1"/>
          <p:cNvSpPr txBox="1"/>
          <p:nvPr/>
        </p:nvSpPr>
        <p:spPr>
          <a:xfrm>
            <a:off x="548640" y="132588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novelty 0"/>
          <p:cNvSpPr txBox="1"/>
          <p:nvPr/>
        </p:nvSpPr>
        <p:spPr>
          <a:xfrm>
            <a:off x="1097280" y="1289304"/>
            <a:ext cx="3657600" cy="566928"/>
          </a:xfrm>
          <a:prstGeom prst="rect">
            <a:avLst/>
          </a:prstGeom>
          <a:noFill/>
          <a:ln/>
        </p:spPr>
        <p:txBody>
          <a:bodyPr wrap="square" lIns="0" tIns="0" rIns="0" bIns="0" rtlCol="0" anchor="ctr"/>
          <a:lstStyle/>
          <a:p>
            <a:pPr indent="0" marL="0">
              <a:buNone/>
            </a:pPr>
            <a:r>
              <a:rPr lang="en-US" sz="1400" dirty="0">
                <a:solidFill>
                  <a:schemeClr val="tx1"/>
                </a:solidFill>
              </a:rPr>
              <a:t>Each hop has its own ACK and 0.2 s retry timer</a:t>
            </a:r>
            <a:endParaRPr lang="en-US" sz="1400" dirty="0"/>
          </a:p>
        </p:txBody>
      </p:sp>
      <p:sp>
        <p:nvSpPr>
          <p:cNvPr id="6" name="badge 2"/>
          <p:cNvSpPr/>
          <p:nvPr/>
        </p:nvSpPr>
        <p:spPr>
          <a:xfrm>
            <a:off x="548640" y="1984248"/>
            <a:ext cx="365760" cy="365760"/>
          </a:xfrm>
          <a:prstGeom prst="ellipse">
            <a:avLst/>
          </a:prstGeom>
          <a:solidFill>
            <a:schemeClr val="accent1"/>
          </a:solidFill>
          <a:ln w="12700">
            <a:solidFill>
              <a:schemeClr val="accent1"/>
            </a:solidFill>
            <a:prstDash val="solid"/>
          </a:ln>
        </p:spPr>
      </p:sp>
      <p:sp>
        <p:nvSpPr>
          <p:cNvPr id="7" name="badge text 2"/>
          <p:cNvSpPr txBox="1"/>
          <p:nvPr/>
        </p:nvSpPr>
        <p:spPr>
          <a:xfrm>
            <a:off x="548640" y="198424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novelty 1"/>
          <p:cNvSpPr txBox="1"/>
          <p:nvPr/>
        </p:nvSpPr>
        <p:spPr>
          <a:xfrm>
            <a:off x="1097280" y="1947672"/>
            <a:ext cx="3657600" cy="566928"/>
          </a:xfrm>
          <a:prstGeom prst="rect">
            <a:avLst/>
          </a:prstGeom>
          <a:noFill/>
          <a:ln/>
        </p:spPr>
        <p:txBody>
          <a:bodyPr wrap="square" lIns="0" tIns="0" rIns="0" bIns="0" rtlCol="0" anchor="ctr"/>
          <a:lstStyle/>
          <a:p>
            <a:pPr indent="0" marL="0">
              <a:buNone/>
            </a:pPr>
            <a:r>
              <a:rPr lang="en-US" sz="1400" dirty="0">
                <a:solidFill>
                  <a:schemeClr val="tx1"/>
                </a:solidFill>
              </a:rPr>
              <a:t>The broker gives every delivery its own id</a:t>
            </a:r>
            <a:endParaRPr lang="en-US" sz="1400" dirty="0"/>
          </a:p>
        </p:txBody>
      </p:sp>
      <p:sp>
        <p:nvSpPr>
          <p:cNvPr id="9" name="badge 3"/>
          <p:cNvSpPr/>
          <p:nvPr/>
        </p:nvSpPr>
        <p:spPr>
          <a:xfrm>
            <a:off x="548640" y="2642616"/>
            <a:ext cx="365760" cy="365760"/>
          </a:xfrm>
          <a:prstGeom prst="ellipse">
            <a:avLst/>
          </a:prstGeom>
          <a:solidFill>
            <a:schemeClr val="accent1"/>
          </a:solidFill>
          <a:ln w="12700">
            <a:solidFill>
              <a:schemeClr val="accent1"/>
            </a:solidFill>
            <a:prstDash val="solid"/>
          </a:ln>
        </p:spPr>
      </p:sp>
      <p:sp>
        <p:nvSpPr>
          <p:cNvPr id="10" name="badge text 3"/>
          <p:cNvSpPr txBox="1"/>
          <p:nvPr/>
        </p:nvSpPr>
        <p:spPr>
          <a:xfrm>
            <a:off x="548640" y="2642616"/>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novelty 2"/>
          <p:cNvSpPr txBox="1"/>
          <p:nvPr/>
        </p:nvSpPr>
        <p:spPr>
          <a:xfrm>
            <a:off x="1097280" y="2606040"/>
            <a:ext cx="3657600" cy="566928"/>
          </a:xfrm>
          <a:prstGeom prst="rect">
            <a:avLst/>
          </a:prstGeom>
          <a:noFill/>
          <a:ln/>
        </p:spPr>
        <p:txBody>
          <a:bodyPr wrap="square" lIns="0" tIns="0" rIns="0" bIns="0" rtlCol="0" anchor="ctr"/>
          <a:lstStyle/>
          <a:p>
            <a:pPr indent="0" marL="0">
              <a:buNone/>
            </a:pPr>
            <a:r>
              <a:rPr lang="en-US" sz="1400" dirty="0">
                <a:solidFill>
                  <a:schemeClr val="tx1"/>
                </a:solidFill>
              </a:rPr>
              <a:t>ACKs are idempotent: a repeat is re-ACKed but routed once</a:t>
            </a:r>
            <a:endParaRPr lang="en-US" sz="1400" dirty="0"/>
          </a:p>
        </p:txBody>
      </p:sp>
      <p:sp>
        <p:nvSpPr>
          <p:cNvPr id="12" name="badge 4"/>
          <p:cNvSpPr/>
          <p:nvPr/>
        </p:nvSpPr>
        <p:spPr>
          <a:xfrm>
            <a:off x="548640" y="3300984"/>
            <a:ext cx="365760" cy="365760"/>
          </a:xfrm>
          <a:prstGeom prst="ellipse">
            <a:avLst/>
          </a:prstGeom>
          <a:solidFill>
            <a:schemeClr val="accent1"/>
          </a:solidFill>
          <a:ln w="12700">
            <a:solidFill>
              <a:schemeClr val="accent1"/>
            </a:solidFill>
            <a:prstDash val="solid"/>
          </a:ln>
        </p:spPr>
      </p:sp>
      <p:sp>
        <p:nvSpPr>
          <p:cNvPr id="13" name="badge text 4"/>
          <p:cNvSpPr txBox="1"/>
          <p:nvPr/>
        </p:nvSpPr>
        <p:spPr>
          <a:xfrm>
            <a:off x="548640" y="3300984"/>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novelty 3"/>
          <p:cNvSpPr txBox="1"/>
          <p:nvPr/>
        </p:nvSpPr>
        <p:spPr>
          <a:xfrm>
            <a:off x="1097280" y="3264408"/>
            <a:ext cx="3657600" cy="566928"/>
          </a:xfrm>
          <a:prstGeom prst="rect">
            <a:avLst/>
          </a:prstGeom>
          <a:noFill/>
          <a:ln/>
        </p:spPr>
        <p:txBody>
          <a:bodyPr wrap="square" lIns="0" tIns="0" rIns="0" bIns="0" rtlCol="0" anchor="ctr"/>
          <a:lstStyle/>
          <a:p>
            <a:pPr indent="0" marL="0">
              <a:buNone/>
            </a:pPr>
            <a:r>
              <a:rPr lang="en-US" sz="1400" dirty="0">
                <a:solidFill>
                  <a:schemeClr val="tx1"/>
                </a:solidFill>
              </a:rPr>
              <a:t>One asyncio task per delivery, so no subscriber blocks another</a:t>
            </a:r>
            <a:endParaRPr lang="en-US" sz="1400" dirty="0"/>
          </a:p>
        </p:txBody>
      </p:sp>
      <p:sp>
        <p:nvSpPr>
          <p:cNvPr id="15" name="badge 5"/>
          <p:cNvSpPr/>
          <p:nvPr/>
        </p:nvSpPr>
        <p:spPr>
          <a:xfrm>
            <a:off x="548640" y="3959352"/>
            <a:ext cx="365760" cy="365760"/>
          </a:xfrm>
          <a:prstGeom prst="ellipse">
            <a:avLst/>
          </a:prstGeom>
          <a:solidFill>
            <a:schemeClr val="accent1"/>
          </a:solidFill>
          <a:ln w="12700">
            <a:solidFill>
              <a:schemeClr val="accent1"/>
            </a:solidFill>
            <a:prstDash val="solid"/>
          </a:ln>
        </p:spPr>
      </p:sp>
      <p:sp>
        <p:nvSpPr>
          <p:cNvPr id="16" name="badge text 5"/>
          <p:cNvSpPr txBox="1"/>
          <p:nvPr/>
        </p:nvSpPr>
        <p:spPr>
          <a:xfrm>
            <a:off x="548640" y="395935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novelty 4"/>
          <p:cNvSpPr txBox="1"/>
          <p:nvPr/>
        </p:nvSpPr>
        <p:spPr>
          <a:xfrm>
            <a:off x="1097280" y="3922776"/>
            <a:ext cx="3657600" cy="566928"/>
          </a:xfrm>
          <a:prstGeom prst="rect">
            <a:avLst/>
          </a:prstGeom>
          <a:noFill/>
          <a:ln/>
        </p:spPr>
        <p:txBody>
          <a:bodyPr wrap="square" lIns="0" tIns="0" rIns="0" bIns="0" rtlCol="0" anchor="ctr"/>
          <a:lstStyle/>
          <a:p>
            <a:pPr indent="0" marL="0">
              <a:buNone/>
            </a:pPr>
            <a:r>
              <a:rPr lang="en-US" sz="1400" dirty="0">
                <a:solidFill>
                  <a:schemeClr val="tx1"/>
                </a:solidFill>
              </a:rPr>
              <a:t>Duplicates are caught and counted at the subscriber</a:t>
            </a:r>
            <a:endParaRPr lang="en-US" sz="1400" dirty="0"/>
          </a:p>
        </p:txBody>
      </p:sp>
      <p:pic>
        <p:nvPicPr>
          <p:cNvPr id="18" name="qos1 sequence" descr="QoS 1 exchange with a lost PUBACK on each hop">    </p:cNvPr>
          <p:cNvPicPr>
            <a:picLocks noChangeAspect="1"/>
          </p:cNvPicPr>
          <p:nvPr/>
        </p:nvPicPr>
        <p:blipFill>
          <a:blip r:embed="rId1"/>
          <a:stretch>
            <a:fillRect/>
          </a:stretch>
        </p:blipFill>
        <p:spPr>
          <a:xfrm>
            <a:off x="4983480" y="1331321"/>
            <a:ext cx="3611880" cy="2503717"/>
          </a:xfrm>
          <a:prstGeom prst="rect">
            <a:avLst/>
          </a:prstGeom>
        </p:spPr>
      </p:pic>
      <p:sp>
        <p:nvSpPr>
          <p:cNvPr id="19" name="sequence caption"/>
          <p:cNvSpPr txBox="1"/>
          <p:nvPr/>
        </p:nvSpPr>
        <p:spPr>
          <a:xfrm>
            <a:off x="4983480" y="3931920"/>
            <a:ext cx="3611880" cy="274320"/>
          </a:xfrm>
          <a:prstGeom prst="rect">
            <a:avLst/>
          </a:prstGeom>
          <a:noFill/>
          <a:ln/>
        </p:spPr>
        <p:txBody>
          <a:bodyPr wrap="square" lIns="0" tIns="0" rIns="0" bIns="0" rtlCol="0" anchor="t"/>
          <a:lstStyle/>
          <a:p>
            <a:pPr algn="ctr" indent="0" marL="0">
              <a:buNone/>
            </a:pPr>
            <a:r>
              <a:rPr lang="en-US" sz="1200" dirty="0">
                <a:solidFill>
                  <a:schemeClr val="accent4"/>
                </a:solidFill>
              </a:rPr>
              <a:t>A lost PUBACK on each hop causes a retry</a:t>
            </a:r>
            <a:endParaRPr lang="en-US" sz="1200" dirty="0"/>
          </a:p>
        </p:txBody>
      </p:sp>
      <p:sp>
        <p:nvSpPr>
          <p:cNvPr id="20" name="not new card"/>
          <p:cNvSpPr/>
          <p:nvPr/>
        </p:nvSpPr>
        <p:spPr>
          <a:xfrm>
            <a:off x="4983480" y="4251960"/>
            <a:ext cx="3611880" cy="502920"/>
          </a:xfrm>
          <a:prstGeom prst="roundRect">
            <a:avLst>
              <a:gd name="adj" fmla="val 21818"/>
            </a:avLst>
          </a:prstGeom>
          <a:solidFill>
            <a:schemeClr val="bg2"/>
          </a:solidFill>
          <a:ln w="12700">
            <a:solidFill>
              <a:schemeClr val="bg2"/>
            </a:solidFill>
            <a:prstDash val="solid"/>
          </a:ln>
        </p:spPr>
      </p:sp>
      <p:sp>
        <p:nvSpPr>
          <p:cNvPr id="21" name="not new text"/>
          <p:cNvSpPr txBox="1"/>
          <p:nvPr/>
        </p:nvSpPr>
        <p:spPr>
          <a:xfrm>
            <a:off x="5074920" y="4251960"/>
            <a:ext cx="3566160" cy="502920"/>
          </a:xfrm>
          <a:prstGeom prst="rect">
            <a:avLst/>
          </a:prstGeom>
          <a:noFill/>
          <a:ln/>
        </p:spPr>
        <p:txBody>
          <a:bodyPr wrap="square" lIns="0" tIns="0" rIns="0" bIns="0" rtlCol="0" anchor="ctr"/>
          <a:lstStyle/>
          <a:p>
            <a:pPr indent="0" marL="0">
              <a:buNone/>
            </a:pPr>
            <a:r>
              <a:rPr lang="en-US" sz="1100" dirty="0">
                <a:solidFill>
                  <a:schemeClr val="tx1"/>
                </a:solidFill>
              </a:rPr>
              <a:t>Not a new protocol: the contribution is the design, testbed and measurements.</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Architecture and algorithm</a:t>
            </a:r>
            <a:endParaRPr lang="en-US" sz="3000" dirty="0"/>
          </a:p>
        </p:txBody>
      </p:sp>
      <p:pic>
        <p:nvPicPr>
          <p:cNvPr id="3" name="architecture diagram" descr="Clients connect to the broker directly or through the lossy proxy">    </p:cNvPr>
          <p:cNvPicPr>
            <a:picLocks noChangeAspect="1"/>
          </p:cNvPicPr>
          <p:nvPr/>
        </p:nvPicPr>
        <p:blipFill>
          <a:blip r:embed="rId1"/>
          <a:stretch>
            <a:fillRect/>
          </a:stretch>
        </p:blipFill>
        <p:spPr>
          <a:xfrm>
            <a:off x="457200" y="1578249"/>
            <a:ext cx="5212080" cy="2695661"/>
          </a:xfrm>
          <a:prstGeom prst="rect">
            <a:avLst/>
          </a:prstGeom>
        </p:spPr>
      </p:pic>
      <p:sp>
        <p:nvSpPr>
          <p:cNvPr id="4" name="badge 1"/>
          <p:cNvSpPr/>
          <p:nvPr/>
        </p:nvSpPr>
        <p:spPr>
          <a:xfrm>
            <a:off x="5897880" y="1371600"/>
            <a:ext cx="365760" cy="365760"/>
          </a:xfrm>
          <a:prstGeom prst="ellipse">
            <a:avLst/>
          </a:prstGeom>
          <a:solidFill>
            <a:schemeClr val="accent1"/>
          </a:solidFill>
          <a:ln w="12700">
            <a:solidFill>
              <a:schemeClr val="accent1"/>
            </a:solidFill>
            <a:prstDash val="solid"/>
          </a:ln>
        </p:spPr>
      </p:sp>
      <p:sp>
        <p:nvSpPr>
          <p:cNvPr id="5" name="badge text 1"/>
          <p:cNvSpPr txBox="1"/>
          <p:nvPr/>
        </p:nvSpPr>
        <p:spPr>
          <a:xfrm>
            <a:off x="5897880" y="13716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algo step 0"/>
          <p:cNvSpPr txBox="1"/>
          <p:nvPr/>
        </p:nvSpPr>
        <p:spPr>
          <a:xfrm>
            <a:off x="6400800" y="1344168"/>
            <a:ext cx="2240280" cy="1005840"/>
          </a:xfrm>
          <a:prstGeom prst="rect">
            <a:avLst/>
          </a:prstGeom>
          <a:noFill/>
          <a:ln/>
        </p:spPr>
        <p:txBody>
          <a:bodyPr wrap="square" lIns="0" tIns="0" rIns="0" bIns="0" rtlCol="0" anchor="t"/>
          <a:lstStyle/>
          <a:p>
            <a:pPr indent="0" marL="0">
              <a:buNone/>
            </a:pPr>
            <a:r>
              <a:rPr lang="en-US" sz="1300" dirty="0">
                <a:solidFill>
                  <a:schemeClr val="tx1"/>
                </a:solidFill>
              </a:rPr>
              <a:t>Publisher: send, wait 0.2 s for PUBACK, retry up to 5 times.</a:t>
            </a:r>
            <a:endParaRPr lang="en-US" sz="1300" dirty="0"/>
          </a:p>
        </p:txBody>
      </p:sp>
      <p:sp>
        <p:nvSpPr>
          <p:cNvPr id="7" name="badge 2"/>
          <p:cNvSpPr/>
          <p:nvPr/>
        </p:nvSpPr>
        <p:spPr>
          <a:xfrm>
            <a:off x="5897880" y="2514600"/>
            <a:ext cx="365760" cy="365760"/>
          </a:xfrm>
          <a:prstGeom prst="ellipse">
            <a:avLst/>
          </a:prstGeom>
          <a:solidFill>
            <a:schemeClr val="accent1"/>
          </a:solidFill>
          <a:ln w="12700">
            <a:solidFill>
              <a:schemeClr val="accent1"/>
            </a:solidFill>
            <a:prstDash val="solid"/>
          </a:ln>
        </p:spPr>
      </p:sp>
      <p:sp>
        <p:nvSpPr>
          <p:cNvPr id="8" name="badge text 2"/>
          <p:cNvSpPr txBox="1"/>
          <p:nvPr/>
        </p:nvSpPr>
        <p:spPr>
          <a:xfrm>
            <a:off x="5897880" y="25146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algo step 1"/>
          <p:cNvSpPr txBox="1"/>
          <p:nvPr/>
        </p:nvSpPr>
        <p:spPr>
          <a:xfrm>
            <a:off x="6400800" y="2487168"/>
            <a:ext cx="2240280" cy="1005840"/>
          </a:xfrm>
          <a:prstGeom prst="rect">
            <a:avLst/>
          </a:prstGeom>
          <a:noFill/>
          <a:ln/>
        </p:spPr>
        <p:txBody>
          <a:bodyPr wrap="square" lIns="0" tIns="0" rIns="0" bIns="0" rtlCol="0" anchor="t"/>
          <a:lstStyle/>
          <a:p>
            <a:pPr indent="0" marL="0">
              <a:buNone/>
            </a:pPr>
            <a:r>
              <a:rPr lang="en-US" sz="1300" dirty="0">
                <a:solidFill>
                  <a:schemeClr val="tx1"/>
                </a:solidFill>
              </a:rPr>
              <a:t>Broker: always ACK, route each (client, id) once, deliver with its own id.</a:t>
            </a:r>
            <a:endParaRPr lang="en-US" sz="1300" dirty="0"/>
          </a:p>
        </p:txBody>
      </p:sp>
      <p:sp>
        <p:nvSpPr>
          <p:cNvPr id="10" name="badge 3"/>
          <p:cNvSpPr/>
          <p:nvPr/>
        </p:nvSpPr>
        <p:spPr>
          <a:xfrm>
            <a:off x="5897880" y="3657600"/>
            <a:ext cx="365760" cy="365760"/>
          </a:xfrm>
          <a:prstGeom prst="ellipse">
            <a:avLst/>
          </a:prstGeom>
          <a:solidFill>
            <a:schemeClr val="accent1"/>
          </a:solidFill>
          <a:ln w="12700">
            <a:solidFill>
              <a:schemeClr val="accent1"/>
            </a:solidFill>
            <a:prstDash val="solid"/>
          </a:ln>
        </p:spPr>
      </p:sp>
      <p:sp>
        <p:nvSpPr>
          <p:cNvPr id="11" name="badge text 3"/>
          <p:cNvSpPr txBox="1"/>
          <p:nvPr/>
        </p:nvSpPr>
        <p:spPr>
          <a:xfrm>
            <a:off x="5897880" y="36576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algo step 2"/>
          <p:cNvSpPr txBox="1"/>
          <p:nvPr/>
        </p:nvSpPr>
        <p:spPr>
          <a:xfrm>
            <a:off x="6400800" y="3630168"/>
            <a:ext cx="2240280" cy="1005840"/>
          </a:xfrm>
          <a:prstGeom prst="rect">
            <a:avLst/>
          </a:prstGeom>
          <a:noFill/>
          <a:ln/>
        </p:spPr>
        <p:txBody>
          <a:bodyPr wrap="square" lIns="0" tIns="0" rIns="0" bIns="0" rtlCol="0" anchor="t"/>
          <a:lstStyle/>
          <a:p>
            <a:pPr indent="0" marL="0">
              <a:buNone/>
            </a:pPr>
            <a:r>
              <a:rPr lang="en-US" sz="1300" dirty="0">
                <a:solidFill>
                  <a:schemeClr val="tx1"/>
                </a:solidFill>
              </a:rPr>
              <a:t>Subscriber: ACK every copy, give the app each delivery id once.</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Implementation setup</a:t>
            </a:r>
            <a:endParaRPr lang="en-US" sz="3000" dirty="0"/>
          </a:p>
        </p:txBody>
      </p:sp>
      <p:sp>
        <p:nvSpPr>
          <p:cNvPr id="3" name="env head"/>
          <p:cNvSpPr txBox="1"/>
          <p:nvPr/>
        </p:nvSpPr>
        <p:spPr>
          <a:xfrm>
            <a:off x="548640" y="1280160"/>
            <a:ext cx="3931920" cy="320040"/>
          </a:xfrm>
          <a:prstGeom prst="rect">
            <a:avLst/>
          </a:prstGeom>
          <a:noFill/>
          <a:ln/>
        </p:spPr>
        <p:txBody>
          <a:bodyPr wrap="square" lIns="0" tIns="0" rIns="0" bIns="0" rtlCol="0" anchor="t"/>
          <a:lstStyle/>
          <a:p>
            <a:pPr indent="0" marL="0">
              <a:buNone/>
            </a:pPr>
            <a:r>
              <a:rPr lang="en-US" sz="1600" b="1" dirty="0">
                <a:solidFill>
                  <a:schemeClr val="accent1"/>
                </a:solidFill>
              </a:rPr>
              <a:t>Environment</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3931920" cy="914400"/>
        </p:xfrm>
        <a:graphic>
          <a:graphicData uri="http://schemas.openxmlformats.org/drawingml/2006/table">
            <a:tbl>
              <a:tblPr/>
              <a:tblGrid>
                <a:gridCol w="1280160"/>
                <a:gridCol w="2651760"/>
              </a:tblGrid>
              <a:tr h="365760">
                <a:tc>
                  <a:txBody>
                    <a:bodyPr/>
                    <a:lstStyle/>
                    <a:p>
                      <a:pPr algn="ctr" indent="0" marL="0">
                        <a:buNone/>
                      </a:pPr>
                      <a:r>
                        <a:rPr lang="en-US" sz="1100" b="1" dirty="0">
                          <a:solidFill>
                            <a:srgbClr val="FFFFFF"/>
                          </a:solidFill>
                        </a:rPr>
                        <a:t>Item</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Details</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r>
              <a:tr h="365760">
                <a:tc>
                  <a:txBody>
                    <a:bodyPr/>
                    <a:lstStyle/>
                    <a:p>
                      <a:pPr indent="0" marL="0">
                        <a:buNone/>
                      </a:pPr>
                      <a:r>
                        <a:rPr lang="en-US" sz="1200" b="1" dirty="0">
                          <a:solidFill>
                            <a:srgbClr val="1F2933"/>
                          </a:solidFill>
                        </a:rPr>
                        <a:t>Language</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Python 3.12, asyncio</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Platform</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Windows 11</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Processor</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Core i7-1360P, 16 threads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Memory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15.7 GB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Network</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Loopback only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bl>
          </a:graphicData>
        </a:graphic>
      </p:graphicFrame>
      <p:sp>
        <p:nvSpPr>
          <p:cNvPr id="5" name="code head"/>
          <p:cNvSpPr txBox="1"/>
          <p:nvPr/>
        </p:nvSpPr>
        <p:spPr>
          <a:xfrm>
            <a:off x="4663440" y="1280160"/>
            <a:ext cx="3931920" cy="320040"/>
          </a:xfrm>
          <a:prstGeom prst="rect">
            <a:avLst/>
          </a:prstGeom>
          <a:noFill/>
          <a:ln/>
        </p:spPr>
        <p:txBody>
          <a:bodyPr wrap="square" lIns="0" tIns="0" rIns="0" bIns="0" rtlCol="0" anchor="t"/>
          <a:lstStyle/>
          <a:p>
            <a:pPr indent="0" marL="0">
              <a:buNone/>
            </a:pPr>
            <a:r>
              <a:rPr lang="en-US" sz="1600" b="1" dirty="0">
                <a:solidFill>
                  <a:schemeClr val="accent1"/>
                </a:solidFill>
              </a:rPr>
              <a:t>Code</a:t>
            </a:r>
            <a:endParaRPr lang="en-US" sz="16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663440" y="1691640"/>
          <a:ext cx="3931920" cy="914400"/>
        </p:xfrm>
        <a:graphic>
          <a:graphicData uri="http://schemas.openxmlformats.org/drawingml/2006/table">
            <a:tbl>
              <a:tblPr/>
              <a:tblGrid>
                <a:gridCol w="1371600"/>
                <a:gridCol w="2560320"/>
              </a:tblGrid>
              <a:tr h="365760">
                <a:tc>
                  <a:txBody>
                    <a:bodyPr/>
                    <a:lstStyle/>
                    <a:p>
                      <a:pPr algn="ctr" indent="0" marL="0">
                        <a:buNone/>
                      </a:pPr>
                      <a:r>
                        <a:rPr lang="en-US" sz="1100" b="1" dirty="0">
                          <a:solidFill>
                            <a:srgbClr val="FFFFFF"/>
                          </a:solidFill>
                        </a:rPr>
                        <a:t>File</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Role</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r>
              <a:tr h="365760">
                <a:tc>
                  <a:txBody>
                    <a:bodyPr/>
                    <a:lstStyle/>
                    <a:p>
                      <a:pPr indent="0" marL="0">
                        <a:buNone/>
                      </a:pPr>
                      <a:r>
                        <a:rPr lang="en-US" sz="1200" b="1" dirty="0">
                          <a:solidFill>
                            <a:srgbClr val="1F2933"/>
                          </a:solidFill>
                        </a:rPr>
                        <a:t>broker.py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Routing, retained, QoS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client.py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Client library and CLI</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proxy.py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Lossy proxy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benchmark.py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Runs experiments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tests/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Unit and end-to-end</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bl>
          </a:graphicData>
        </a:graphic>
      </p:graphicFrame>
      <p:sp>
        <p:nvSpPr>
          <p:cNvPr id="7" name="setup text"/>
          <p:cNvSpPr txBox="1"/>
          <p:nvPr/>
        </p:nvSpPr>
        <p:spPr>
          <a:xfrm>
            <a:off x="548640" y="4069080"/>
            <a:ext cx="8046720" cy="640080"/>
          </a:xfrm>
          <a:prstGeom prst="rect">
            <a:avLst/>
          </a:prstGeom>
          <a:noFill/>
          <a:ln/>
        </p:spPr>
        <p:txBody>
          <a:bodyPr wrap="square" lIns="0" tIns="0" rIns="0" bIns="0" rtlCol="0" anchor="t"/>
          <a:lstStyle/>
          <a:p>
            <a:pPr indent="0" marL="0">
              <a:buNone/>
            </a:pPr>
            <a:r>
              <a:rPr lang="en-US" sz="1500" dirty="0">
                <a:solidFill>
                  <a:schemeClr val="tx2"/>
                </a:solidFill>
              </a:rPr>
              <a:t>A fresh broker is started for every run. Each setting is run 3 times with 300 messages, sent in batches of 20.</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Scenarios and metrics</a:t>
            </a:r>
            <a:endParaRPr lang="en-US" sz="3000" dirty="0"/>
          </a:p>
        </p:txBody>
      </p:sp>
      <p:sp>
        <p:nvSpPr>
          <p:cNvPr id="3" name="scen head"/>
          <p:cNvSpPr txBox="1"/>
          <p:nvPr/>
        </p:nvSpPr>
        <p:spPr>
          <a:xfrm>
            <a:off x="548640" y="1280160"/>
            <a:ext cx="4754880" cy="320040"/>
          </a:xfrm>
          <a:prstGeom prst="rect">
            <a:avLst/>
          </a:prstGeom>
          <a:noFill/>
          <a:ln/>
        </p:spPr>
        <p:txBody>
          <a:bodyPr wrap="square" lIns="0" tIns="0" rIns="0" bIns="0" rtlCol="0" anchor="t"/>
          <a:lstStyle/>
          <a:p>
            <a:pPr indent="0" marL="0">
              <a:buNone/>
            </a:pPr>
            <a:r>
              <a:rPr lang="en-US" sz="1600" b="1" dirty="0">
                <a:solidFill>
                  <a:schemeClr val="accent1"/>
                </a:solidFill>
              </a:rPr>
              <a:t>Scenarios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4754880" cy="914400"/>
        </p:xfrm>
        <a:graphic>
          <a:graphicData uri="http://schemas.openxmlformats.org/drawingml/2006/table">
            <a:tbl>
              <a:tblPr/>
              <a:tblGrid>
                <a:gridCol w="1280160"/>
                <a:gridCol w="731520"/>
                <a:gridCol w="1188720"/>
                <a:gridCol w="1554480"/>
              </a:tblGrid>
              <a:tr h="365760">
                <a:tc>
                  <a:txBody>
                    <a:bodyPr/>
                    <a:lstStyle/>
                    <a:p>
                      <a:pPr algn="ctr" indent="0" marL="0">
                        <a:buNone/>
                      </a:pPr>
                      <a:r>
                        <a:rPr lang="en-US" sz="1100" b="1" dirty="0">
                          <a:solidFill>
                            <a:srgbClr val="FFFFFF"/>
                          </a:solidFill>
                        </a:rPr>
                        <a:t>Scenario</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Loss</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Subscribers</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Payload</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r>
              <a:tr h="365760">
                <a:tc>
                  <a:txBody>
                    <a:bodyPr/>
                    <a:lstStyle/>
                    <a:p>
                      <a:pPr indent="0" marL="0">
                        <a:buNone/>
                      </a:pPr>
                      <a:r>
                        <a:rPr lang="en-US" sz="1200" b="1" dirty="0">
                          <a:solidFill>
                            <a:srgbClr val="1F2933"/>
                          </a:solidFill>
                        </a:rPr>
                        <a:t>S0 no loss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64 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S1 low</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5%</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64 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S2 medium</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64 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S3 high</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20%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64 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Scalability</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10, 50, 100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64 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65760">
                <a:tc>
                  <a:txBody>
                    <a:bodyPr/>
                    <a:lstStyle/>
                    <a:p>
                      <a:pPr indent="0" marL="0">
                        <a:buNone/>
                      </a:pPr>
                      <a:r>
                        <a:rPr lang="en-US" sz="1200" b="1" dirty="0">
                          <a:solidFill>
                            <a:srgbClr val="1F2933"/>
                          </a:solidFill>
                        </a:rPr>
                        <a:t>Payload</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64 B, 1 KB, 16 KB</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bl>
          </a:graphicData>
        </a:graphic>
      </p:graphicFrame>
      <p:sp>
        <p:nvSpPr>
          <p:cNvPr id="5" name="scen note"/>
          <p:cNvSpPr txBox="1"/>
          <p:nvPr/>
        </p:nvSpPr>
        <p:spPr>
          <a:xfrm>
            <a:off x="548640" y="4343400"/>
            <a:ext cx="4754880" cy="457200"/>
          </a:xfrm>
          <a:prstGeom prst="rect">
            <a:avLst/>
          </a:prstGeom>
          <a:noFill/>
          <a:ln/>
        </p:spPr>
        <p:txBody>
          <a:bodyPr wrap="square" lIns="0" tIns="0" rIns="0" bIns="0" rtlCol="0" anchor="t"/>
          <a:lstStyle/>
          <a:p>
            <a:pPr indent="0" marL="0">
              <a:buNone/>
            </a:pPr>
            <a:r>
              <a:rPr lang="en-US" sz="1300" dirty="0">
                <a:solidFill>
                  <a:schemeClr val="accent4"/>
                </a:solidFill>
              </a:rPr>
              <a:t>S0 to S3 run QoS 0 (baseline) and QoS 1 (proposed). The other two run QoS 1.</a:t>
            </a:r>
            <a:endParaRPr lang="en-US" sz="1300" dirty="0"/>
          </a:p>
        </p:txBody>
      </p:sp>
      <p:sp>
        <p:nvSpPr>
          <p:cNvPr id="6" name="metric head"/>
          <p:cNvSpPr txBox="1"/>
          <p:nvPr/>
        </p:nvSpPr>
        <p:spPr>
          <a:xfrm>
            <a:off x="5623560" y="1280160"/>
            <a:ext cx="3017520" cy="320040"/>
          </a:xfrm>
          <a:prstGeom prst="rect">
            <a:avLst/>
          </a:prstGeom>
          <a:noFill/>
          <a:ln/>
        </p:spPr>
        <p:txBody>
          <a:bodyPr wrap="square" lIns="0" tIns="0" rIns="0" bIns="0" rtlCol="0" anchor="t"/>
          <a:lstStyle/>
          <a:p>
            <a:pPr indent="0" marL="0">
              <a:buNone/>
            </a:pPr>
            <a:r>
              <a:rPr lang="en-US" sz="1600" b="1" dirty="0">
                <a:solidFill>
                  <a:schemeClr val="accent1"/>
                </a:solidFill>
              </a:rPr>
              <a:t>Metrics</a:t>
            </a:r>
            <a:endParaRPr lang="en-US" sz="1600" dirty="0"/>
          </a:p>
        </p:txBody>
      </p:sp>
      <p:sp>
        <p:nvSpPr>
          <p:cNvPr id="7" name="metric 0"/>
          <p:cNvSpPr txBox="1"/>
          <p:nvPr/>
        </p:nvSpPr>
        <p:spPr>
          <a:xfrm>
            <a:off x="5623560" y="1691640"/>
            <a:ext cx="3017520" cy="530352"/>
          </a:xfrm>
          <a:prstGeom prst="rect">
            <a:avLst/>
          </a:prstGeom>
          <a:noFill/>
          <a:ln/>
        </p:spPr>
        <p:txBody>
          <a:bodyPr wrap="square" lIns="0" tIns="0" rIns="0" bIns="0" rtlCol="0" anchor="t"/>
          <a:lstStyle/>
          <a:p>
            <a:pPr indent="0" marL="0">
              <a:buNone/>
            </a:pPr>
            <a:r>
              <a:rPr lang="en-US" sz="1400" b="1" dirty="0">
                <a:solidFill>
                  <a:schemeClr val="tx1"/>
                </a:solidFill>
              </a:rPr>
              <a:t>Delivery ratio</a:t>
            </a:r>
            <a:endParaRPr lang="en-US" sz="1400" dirty="0"/>
          </a:p>
          <a:p>
            <a:pPr indent="0" marL="0">
              <a:buNone/>
            </a:pPr>
            <a:r>
              <a:rPr lang="en-US" sz="1200" dirty="0">
                <a:solidFill>
                  <a:schemeClr val="accent4"/>
                </a:solidFill>
              </a:rPr>
              <a:t>messages that arrive</a:t>
            </a:r>
            <a:endParaRPr lang="en-US" sz="1400" dirty="0"/>
          </a:p>
        </p:txBody>
      </p:sp>
      <p:sp>
        <p:nvSpPr>
          <p:cNvPr id="8" name="metric 1"/>
          <p:cNvSpPr txBox="1"/>
          <p:nvPr/>
        </p:nvSpPr>
        <p:spPr>
          <a:xfrm>
            <a:off x="5623560" y="2258568"/>
            <a:ext cx="3017520" cy="530352"/>
          </a:xfrm>
          <a:prstGeom prst="rect">
            <a:avLst/>
          </a:prstGeom>
          <a:noFill/>
          <a:ln/>
        </p:spPr>
        <p:txBody>
          <a:bodyPr wrap="square" lIns="0" tIns="0" rIns="0" bIns="0" rtlCol="0" anchor="t"/>
          <a:lstStyle/>
          <a:p>
            <a:pPr indent="0" marL="0">
              <a:buNone/>
            </a:pPr>
            <a:r>
              <a:rPr lang="en-US" sz="1400" b="1" dirty="0">
                <a:solidFill>
                  <a:schemeClr val="tx1"/>
                </a:solidFill>
              </a:rPr>
              <a:t>Mean latency</a:t>
            </a:r>
            <a:endParaRPr lang="en-US" sz="1400" dirty="0"/>
          </a:p>
          <a:p>
            <a:pPr indent="0" marL="0">
              <a:buNone/>
            </a:pPr>
            <a:r>
              <a:rPr lang="en-US" sz="1200" dirty="0">
                <a:solidFill>
                  <a:schemeClr val="accent4"/>
                </a:solidFill>
              </a:rPr>
              <a:t>receive time minus send time</a:t>
            </a:r>
            <a:endParaRPr lang="en-US" sz="1400" dirty="0"/>
          </a:p>
        </p:txBody>
      </p:sp>
      <p:sp>
        <p:nvSpPr>
          <p:cNvPr id="9" name="metric 2"/>
          <p:cNvSpPr txBox="1"/>
          <p:nvPr/>
        </p:nvSpPr>
        <p:spPr>
          <a:xfrm>
            <a:off x="5623560" y="2825496"/>
            <a:ext cx="3017520" cy="530352"/>
          </a:xfrm>
          <a:prstGeom prst="rect">
            <a:avLst/>
          </a:prstGeom>
          <a:noFill/>
          <a:ln/>
        </p:spPr>
        <p:txBody>
          <a:bodyPr wrap="square" lIns="0" tIns="0" rIns="0" bIns="0" rtlCol="0" anchor="t"/>
          <a:lstStyle/>
          <a:p>
            <a:pPr indent="0" marL="0">
              <a:buNone/>
            </a:pPr>
            <a:r>
              <a:rPr lang="en-US" sz="1400" b="1" dirty="0">
                <a:solidFill>
                  <a:schemeClr val="tx1"/>
                </a:solidFill>
              </a:rPr>
              <a:t>Throughput</a:t>
            </a:r>
            <a:endParaRPr lang="en-US" sz="1400" dirty="0"/>
          </a:p>
          <a:p>
            <a:pPr indent="0" marL="0">
              <a:buNone/>
            </a:pPr>
            <a:r>
              <a:rPr lang="en-US" sz="1200" dirty="0">
                <a:solidFill>
                  <a:schemeClr val="accent4"/>
                </a:solidFill>
              </a:rPr>
              <a:t>messages per second</a:t>
            </a:r>
            <a:endParaRPr lang="en-US" sz="1400" dirty="0"/>
          </a:p>
        </p:txBody>
      </p:sp>
      <p:sp>
        <p:nvSpPr>
          <p:cNvPr id="10" name="metric 3"/>
          <p:cNvSpPr txBox="1"/>
          <p:nvPr/>
        </p:nvSpPr>
        <p:spPr>
          <a:xfrm>
            <a:off x="5623560" y="3392424"/>
            <a:ext cx="3017520" cy="530352"/>
          </a:xfrm>
          <a:prstGeom prst="rect">
            <a:avLst/>
          </a:prstGeom>
          <a:noFill/>
          <a:ln/>
        </p:spPr>
        <p:txBody>
          <a:bodyPr wrap="square" lIns="0" tIns="0" rIns="0" bIns="0" rtlCol="0" anchor="t"/>
          <a:lstStyle/>
          <a:p>
            <a:pPr indent="0" marL="0">
              <a:buNone/>
            </a:pPr>
            <a:r>
              <a:rPr lang="en-US" sz="1400" b="1" dirty="0">
                <a:solidFill>
                  <a:schemeClr val="tx1"/>
                </a:solidFill>
              </a:rPr>
              <a:t>Retransmissions</a:t>
            </a:r>
            <a:endParaRPr lang="en-US" sz="1400" dirty="0"/>
          </a:p>
          <a:p>
            <a:pPr indent="0" marL="0">
              <a:buNone/>
            </a:pPr>
            <a:r>
              <a:rPr lang="en-US" sz="1200" dirty="0">
                <a:solidFill>
                  <a:schemeClr val="accent4"/>
                </a:solidFill>
              </a:rPr>
              <a:t>extra frames sent</a:t>
            </a:r>
            <a:endParaRPr lang="en-US" sz="1400" dirty="0"/>
          </a:p>
        </p:txBody>
      </p:sp>
      <p:sp>
        <p:nvSpPr>
          <p:cNvPr id="11" name="metric 4"/>
          <p:cNvSpPr txBox="1"/>
          <p:nvPr/>
        </p:nvSpPr>
        <p:spPr>
          <a:xfrm>
            <a:off x="5623560" y="3959352"/>
            <a:ext cx="3017520" cy="530352"/>
          </a:xfrm>
          <a:prstGeom prst="rect">
            <a:avLst/>
          </a:prstGeom>
          <a:noFill/>
          <a:ln/>
        </p:spPr>
        <p:txBody>
          <a:bodyPr wrap="square" lIns="0" tIns="0" rIns="0" bIns="0" rtlCol="0" anchor="t"/>
          <a:lstStyle/>
          <a:p>
            <a:pPr indent="0" marL="0">
              <a:buNone/>
            </a:pPr>
            <a:r>
              <a:rPr lang="en-US" sz="1400" b="1" dirty="0">
                <a:solidFill>
                  <a:schemeClr val="tx1"/>
                </a:solidFill>
              </a:rPr>
              <a:t>Duplicates</a:t>
            </a:r>
            <a:endParaRPr lang="en-US" sz="1400" dirty="0"/>
          </a:p>
          <a:p>
            <a:pPr indent="0" marL="0">
              <a:buNone/>
            </a:pPr>
            <a:r>
              <a:rPr lang="en-US" sz="1200" dirty="0">
                <a:solidFill>
                  <a:schemeClr val="accent4"/>
                </a:solidFill>
              </a:rPr>
              <a:t>repeat copies seen</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Results: baseline against proposed</a:t>
            </a:r>
            <a:endParaRPr lang="en-US" sz="3000" dirty="0"/>
          </a:p>
        </p:txBody>
      </p:sp>
      <p:graphicFrame>
        <p:nvGraphicFramePr>
          <p:cNvPr id="3" name="delivery chart" descr=""/>
          <p:cNvGraphicFramePr/>
          <p:nvPr/>
        </p:nvGraphicFramePr>
        <p:xfrm>
          <a:off x="457200" y="1234440"/>
          <a:ext cx="3749040" cy="2880360"/>
        </p:xfrm>
        <a:graphic xmlns:a="http://schemas.openxmlformats.org/drawingml/2006/main">
          <a:graphicData uri="http://schemas.openxmlformats.org/drawingml/2006/chart">
            <c:chart xmlns:c="http://schemas.openxmlformats.org/drawingml/2006/chart" r:id="rId1"/>
          </a:graphicData>
        </a:graphic>
      </p:graphicFrame>
      <p:sp>
        <p:nvSpPr>
          <p:cNvPr id="4" name="table note"/>
          <p:cNvSpPr txBox="1"/>
          <p:nvPr/>
        </p:nvSpPr>
        <p:spPr>
          <a:xfrm>
            <a:off x="4389120" y="1261872"/>
            <a:ext cx="4206240" cy="274320"/>
          </a:xfrm>
          <a:prstGeom prst="rect">
            <a:avLst/>
          </a:prstGeom>
          <a:noFill/>
          <a:ln/>
        </p:spPr>
        <p:txBody>
          <a:bodyPr wrap="square" lIns="0" tIns="0" rIns="0" bIns="0" rtlCol="0" anchor="t"/>
          <a:lstStyle/>
          <a:p>
            <a:pPr indent="0" marL="0">
              <a:buNone/>
            </a:pPr>
            <a:r>
              <a:rPr lang="en-US" sz="1200" dirty="0">
                <a:solidFill>
                  <a:schemeClr val="accent4"/>
                </a:solidFill>
              </a:rPr>
              <a:t>Mean ± SD of 3 runs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389120" y="1554480"/>
          <a:ext cx="4297680" cy="914400"/>
        </p:xfrm>
        <a:graphic>
          <a:graphicData uri="http://schemas.openxmlformats.org/drawingml/2006/table">
            <a:tbl>
              <a:tblPr/>
              <a:tblGrid>
                <a:gridCol w="566928"/>
                <a:gridCol w="932688"/>
                <a:gridCol w="932688"/>
                <a:gridCol w="932688"/>
                <a:gridCol w="932688"/>
              </a:tblGrid>
              <a:tr h="502920">
                <a:tc>
                  <a:txBody>
                    <a:bodyPr/>
                    <a:lstStyle/>
                    <a:p>
                      <a:pPr algn="ctr" indent="0" marL="0">
                        <a:buNone/>
                      </a:pPr>
                      <a:r>
                        <a:rPr lang="en-US" sz="1100" b="1" dirty="0">
                          <a:solidFill>
                            <a:srgbClr val="FFFFFF"/>
                          </a:solidFill>
                        </a:rPr>
                        <a:t>Loss</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Delivery % QoS 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Delivery % QoS 1</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Latency ms QoS 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Latency ms QoS 1</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r>
              <a:tr h="347472">
                <a:tc>
                  <a:txBody>
                    <a:bodyPr/>
                    <a:lstStyle/>
                    <a:p>
                      <a:pPr indent="0" marL="0">
                        <a:buNone/>
                      </a:pPr>
                      <a:r>
                        <a:rPr lang="en-US" sz="1100" b="1" dirty="0">
                          <a:solidFill>
                            <a:srgbClr val="1F2933"/>
                          </a:solidFill>
                        </a:rPr>
                        <a:t>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100.0 ± 0.0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100.0 ± 0.0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0.9 ± 0.3</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2.0 ± 0.3</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47472">
                <a:tc>
                  <a:txBody>
                    <a:bodyPr/>
                    <a:lstStyle/>
                    <a:p>
                      <a:pPr indent="0" marL="0">
                        <a:buNone/>
                      </a:pPr>
                      <a:r>
                        <a:rPr lang="en-US" sz="1100" b="1" dirty="0">
                          <a:solidFill>
                            <a:srgbClr val="1F2933"/>
                          </a:solidFill>
                        </a:rPr>
                        <a:t>5%</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89.4 ± 1.9</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100.0 ± 0.0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2.5 ± 0.6</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24.4 ± 5.5</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47472">
                <a:tc>
                  <a:txBody>
                    <a:bodyPr/>
                    <a:lstStyle/>
                    <a:p>
                      <a:pPr indent="0" marL="0">
                        <a:buNone/>
                      </a:pPr>
                      <a:r>
                        <a:rPr lang="en-US" sz="1100" b="1" dirty="0">
                          <a:solidFill>
                            <a:srgbClr val="1F2933"/>
                          </a:solidFill>
                        </a:rPr>
                        <a:t>10%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82.6 ± 2.2</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100.0 ± 0.0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4.3 ± 2.5</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48.9 ± 6.4</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47472">
                <a:tc>
                  <a:txBody>
                    <a:bodyPr/>
                    <a:lstStyle/>
                    <a:p>
                      <a:pPr indent="0" marL="0">
                        <a:buNone/>
                      </a:pPr>
                      <a:r>
                        <a:rPr lang="en-US" sz="1100" b="1" dirty="0">
                          <a:solidFill>
                            <a:srgbClr val="1F2933"/>
                          </a:solidFill>
                        </a:rPr>
                        <a:t>20%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63.8 ± 1.0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100.0 ± 0.0</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2.3 ± 0.9</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100" dirty="0">
                          <a:solidFill>
                            <a:srgbClr val="1F2933"/>
                          </a:solidFill>
                        </a:rPr>
                        <a:t>104.7 ± 6.1</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bl>
          </a:graphicData>
        </a:graphic>
      </p:graphicFrame>
      <p:sp>
        <p:nvSpPr>
          <p:cNvPr id="6" name="result callout"/>
          <p:cNvSpPr/>
          <p:nvPr/>
        </p:nvSpPr>
        <p:spPr>
          <a:xfrm>
            <a:off x="4389120" y="3611880"/>
            <a:ext cx="4297680" cy="1005840"/>
          </a:xfrm>
          <a:prstGeom prst="roundRect">
            <a:avLst>
              <a:gd name="adj" fmla="val 10909"/>
            </a:avLst>
          </a:prstGeom>
          <a:solidFill>
            <a:schemeClr val="bg2"/>
          </a:solidFill>
          <a:ln w="12700">
            <a:solidFill>
              <a:schemeClr val="bg2"/>
            </a:solidFill>
            <a:prstDash val="solid"/>
          </a:ln>
        </p:spPr>
      </p:sp>
      <p:sp>
        <p:nvSpPr>
          <p:cNvPr id="7" name="result callout text"/>
          <p:cNvSpPr txBox="1"/>
          <p:nvPr/>
        </p:nvSpPr>
        <p:spPr>
          <a:xfrm>
            <a:off x="4526280" y="3611880"/>
            <a:ext cx="4023360" cy="1005840"/>
          </a:xfrm>
          <a:prstGeom prst="rect">
            <a:avLst/>
          </a:prstGeom>
          <a:noFill/>
          <a:ln/>
        </p:spPr>
        <p:txBody>
          <a:bodyPr wrap="square" lIns="0" tIns="0" rIns="0" bIns="0" rtlCol="0" anchor="ctr"/>
          <a:lstStyle/>
          <a:p>
            <a:pPr indent="0" marL="0">
              <a:buNone/>
            </a:pPr>
            <a:r>
              <a:rPr lang="en-US" sz="1400" dirty="0">
                <a:solidFill>
                  <a:schemeClr val="tx2"/>
                </a:solidFill>
              </a:rPr>
              <a:t>QoS 1 delivered 100% at every loss rate. The price at 20% loss: latency rose from 2.0 ms to 104.7 ms.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Analysis and limitations</a:t>
            </a:r>
            <a:endParaRPr lang="en-US" sz="3000" dirty="0"/>
          </a:p>
        </p:txBody>
      </p:sp>
      <p:sp>
        <p:nvSpPr>
          <p:cNvPr id="3" name="model head"/>
          <p:cNvSpPr txBox="1"/>
          <p:nvPr/>
        </p:nvSpPr>
        <p:spPr>
          <a:xfrm>
            <a:off x="548640" y="1280160"/>
            <a:ext cx="4114800" cy="320040"/>
          </a:xfrm>
          <a:prstGeom prst="rect">
            <a:avLst/>
          </a:prstGeom>
          <a:noFill/>
          <a:ln/>
        </p:spPr>
        <p:txBody>
          <a:bodyPr wrap="square" lIns="0" tIns="0" rIns="0" bIns="0" rtlCol="0" anchor="t"/>
          <a:lstStyle/>
          <a:p>
            <a:pPr indent="0" marL="0">
              <a:buNone/>
            </a:pPr>
            <a:r>
              <a:rPr lang="en-US" sz="1600" b="1" dirty="0">
                <a:solidFill>
                  <a:schemeClr val="accent1"/>
                </a:solidFill>
              </a:rPr>
              <a:t>Model against measurement, 20% loss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4114800" cy="914400"/>
        </p:xfrm>
        <a:graphic>
          <a:graphicData uri="http://schemas.openxmlformats.org/drawingml/2006/table">
            <a:tbl>
              <a:tblPr/>
              <a:tblGrid>
                <a:gridCol w="1737360"/>
                <a:gridCol w="731520"/>
                <a:gridCol w="1645920"/>
              </a:tblGrid>
              <a:tr h="347472">
                <a:tc>
                  <a:txBody>
                    <a:bodyPr/>
                    <a:lstStyle/>
                    <a:p>
                      <a:pPr algn="ctr" indent="0" marL="0">
                        <a:buNone/>
                      </a:pPr>
                      <a:r>
                        <a:rPr lang="en-US" sz="1100" b="1" dirty="0">
                          <a:solidFill>
                            <a:srgbClr val="FFFFFF"/>
                          </a:solidFill>
                        </a:rPr>
                        <a:t>Quantity</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Model</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c>
                  <a:txBody>
                    <a:bodyPr/>
                    <a:lstStyle/>
                    <a:p>
                      <a:pPr algn="ctr" indent="0" marL="0">
                        <a:buNone/>
                      </a:pPr>
                      <a:r>
                        <a:rPr lang="en-US" sz="1100" b="1" dirty="0">
                          <a:solidFill>
                            <a:srgbClr val="FFFFFF"/>
                          </a:solidFill>
                        </a:rPr>
                        <a:t>Measured</a:t>
                      </a:r>
                      <a:endParaRPr lang="en-US" sz="11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6324F"/>
                    </a:solidFill>
                  </a:tcPr>
                </a:tc>
              </a:tr>
              <a:tr h="347472">
                <a:tc>
                  <a:txBody>
                    <a:bodyPr/>
                    <a:lstStyle/>
                    <a:p>
                      <a:pPr indent="0" marL="0">
                        <a:buNone/>
                      </a:pPr>
                      <a:r>
                        <a:rPr lang="en-US" sz="1200" b="1" dirty="0">
                          <a:solidFill>
                            <a:srgbClr val="1F2933"/>
                          </a:solidFill>
                        </a:rPr>
                        <a:t>Publisher retries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169</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155 ± 12</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47472">
                <a:tc>
                  <a:txBody>
                    <a:bodyPr/>
                    <a:lstStyle/>
                    <a:p>
                      <a:pPr indent="0" marL="0">
                        <a:buNone/>
                      </a:pPr>
                      <a:r>
                        <a:rPr lang="en-US" sz="1200" b="1" dirty="0">
                          <a:solidFill>
                            <a:srgbClr val="1F2933"/>
                          </a:solidFill>
                        </a:rPr>
                        <a:t>Broker retransmits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169</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159 ± 16</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47472">
                <a:tc>
                  <a:txBody>
                    <a:bodyPr/>
                    <a:lstStyle/>
                    <a:p>
                      <a:pPr indent="0" marL="0">
                        <a:buNone/>
                      </a:pPr>
                      <a:r>
                        <a:rPr lang="en-US" sz="1200" b="1" dirty="0">
                          <a:solidFill>
                            <a:srgbClr val="1F2933"/>
                          </a:solidFill>
                        </a:rPr>
                        <a:t>Subscriber duplicates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75</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70 ± 10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r h="347472">
                <a:tc>
                  <a:txBody>
                    <a:bodyPr/>
                    <a:lstStyle/>
                    <a:p>
                      <a:pPr indent="0" marL="0">
                        <a:buNone/>
                      </a:pPr>
                      <a:r>
                        <a:rPr lang="en-US" sz="1200" b="1" dirty="0">
                          <a:solidFill>
                            <a:srgbClr val="1F2933"/>
                          </a:solidFill>
                        </a:rPr>
                        <a:t>QoS 1 latency (ms)</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100</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c>
                  <a:txBody>
                    <a:bodyPr/>
                    <a:lstStyle/>
                    <a:p>
                      <a:pPr indent="0" marL="0">
                        <a:buNone/>
                      </a:pPr>
                      <a:r>
                        <a:rPr lang="en-US" sz="1200" dirty="0">
                          <a:solidFill>
                            <a:srgbClr val="1F2933"/>
                          </a:solidFill>
                        </a:rPr>
                        <a:t>105 ± 6</a:t>
                      </a:r>
                      <a:endParaRPr lang="en-US" sz="1200" dirty="0"/>
                    </a:p>
                  </a:txBody>
                  <a:tcPr marL="73152" marR="73152" marT="27432" marB="2743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tcPr>
                </a:tc>
              </a:tr>
            </a:tbl>
          </a:graphicData>
        </a:graphic>
      </p:graphicFrame>
      <p:sp>
        <p:nvSpPr>
          <p:cNvPr id="5" name="limit head"/>
          <p:cNvSpPr txBox="1"/>
          <p:nvPr/>
        </p:nvSpPr>
        <p:spPr>
          <a:xfrm>
            <a:off x="548640" y="3611880"/>
            <a:ext cx="4114800" cy="320040"/>
          </a:xfrm>
          <a:prstGeom prst="rect">
            <a:avLst/>
          </a:prstGeom>
          <a:noFill/>
          <a:ln/>
        </p:spPr>
        <p:txBody>
          <a:bodyPr wrap="square" lIns="0" tIns="0" rIns="0" bIns="0" rtlCol="0" anchor="t"/>
          <a:lstStyle/>
          <a:p>
            <a:pPr indent="0" marL="0">
              <a:buNone/>
            </a:pPr>
            <a:r>
              <a:rPr lang="en-US" sz="1600" b="1" dirty="0">
                <a:solidFill>
                  <a:schemeClr val="accent1"/>
                </a:solidFill>
              </a:rPr>
              <a:t>Limitations</a:t>
            </a:r>
            <a:endParaRPr lang="en-US" sz="1600" dirty="0"/>
          </a:p>
        </p:txBody>
      </p:sp>
      <p:sp>
        <p:nvSpPr>
          <p:cNvPr id="6" name="limit text"/>
          <p:cNvSpPr txBox="1"/>
          <p:nvPr/>
        </p:nvSpPr>
        <p:spPr>
          <a:xfrm>
            <a:off x="548640" y="3931920"/>
            <a:ext cx="4114800" cy="7772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Loss is emulated above TCP</a:t>
            </a:r>
            <a:endParaRPr lang="en-US" sz="1300" dirty="0"/>
          </a:p>
          <a:p>
            <a:pPr marL="342900" indent="-342900">
              <a:spcAft>
                <a:spcPts val="400"/>
              </a:spcAft>
              <a:buSzPct val="100000"/>
              <a:buChar char="•"/>
            </a:pPr>
            <a:r>
              <a:rPr lang="en-US" sz="1300" dirty="0">
                <a:solidFill>
                  <a:schemeClr val="tx1"/>
                </a:solidFill>
              </a:rPr>
              <a:t>One laptop, 3 runs, loss above 20% untested</a:t>
            </a:r>
            <a:endParaRPr lang="en-US" sz="1300" dirty="0"/>
          </a:p>
        </p:txBody>
      </p:sp>
      <p:graphicFrame>
        <p:nvGraphicFramePr>
          <p:cNvPr id="7" name="spurious chart" descr=""/>
          <p:cNvGraphicFramePr/>
          <p:nvPr/>
        </p:nvGraphicFramePr>
        <p:xfrm>
          <a:off x="4846320" y="1234440"/>
          <a:ext cx="3840480" cy="2651760"/>
        </p:xfrm>
        <a:graphic xmlns:a="http://schemas.openxmlformats.org/drawingml/2006/main">
          <a:graphicData uri="http://schemas.openxmlformats.org/drawingml/2006/chart">
            <c:chart xmlns:c="http://schemas.openxmlformats.org/drawingml/2006/chart" r:id="rId1"/>
          </a:graphicData>
        </a:graphic>
      </p:graphicFrame>
      <p:sp>
        <p:nvSpPr>
          <p:cNvPr id="8" name="spurious text"/>
          <p:cNvSpPr txBox="1"/>
          <p:nvPr/>
        </p:nvSpPr>
        <p:spPr>
          <a:xfrm>
            <a:off x="4846320" y="3977640"/>
            <a:ext cx="3840480" cy="777240"/>
          </a:xfrm>
          <a:prstGeom prst="rect">
            <a:avLst/>
          </a:prstGeom>
          <a:noFill/>
          <a:ln/>
        </p:spPr>
        <p:txBody>
          <a:bodyPr wrap="square" lIns="0" tIns="0" rIns="0" bIns="0" rtlCol="0" anchor="t"/>
          <a:lstStyle/>
          <a:p>
            <a:pPr indent="0" marL="0">
              <a:buNone/>
            </a:pPr>
            <a:r>
              <a:rPr lang="en-US" sz="1300" dirty="0">
                <a:solidFill>
                  <a:schemeClr val="tx1"/>
                </a:solidFill>
              </a:rPr>
              <a:t>With no loss at all, one run needed 1,049 retransmissions. The fixed 0.2 s timer likely fired on a busy broker.</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chemeClr val="tx2"/>
                </a:solidFill>
              </a:rPr>
              <a:t>Conclusion and future work</a:t>
            </a:r>
            <a:endParaRPr lang="en-US" sz="3000" dirty="0"/>
          </a:p>
        </p:txBody>
      </p:sp>
      <p:sp>
        <p:nvSpPr>
          <p:cNvPr id="3" name="concl card"/>
          <p:cNvSpPr/>
          <p:nvPr/>
        </p:nvSpPr>
        <p:spPr>
          <a:xfrm>
            <a:off x="548640" y="1280160"/>
            <a:ext cx="4023360" cy="2377440"/>
          </a:xfrm>
          <a:prstGeom prst="roundRect">
            <a:avLst>
              <a:gd name="adj" fmla="val 4615"/>
            </a:avLst>
          </a:prstGeom>
          <a:solidFill>
            <a:schemeClr val="bg2"/>
          </a:solidFill>
          <a:ln w="12700">
            <a:solidFill>
              <a:schemeClr val="bg2"/>
            </a:solidFill>
            <a:prstDash val="solid"/>
          </a:ln>
        </p:spPr>
      </p:sp>
      <p:sp>
        <p:nvSpPr>
          <p:cNvPr id="4" name="concl head"/>
          <p:cNvSpPr txBox="1"/>
          <p:nvPr/>
        </p:nvSpPr>
        <p:spPr>
          <a:xfrm>
            <a:off x="731520" y="138988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Conclusion</a:t>
            </a:r>
            <a:endParaRPr lang="en-US" sz="1600" dirty="0"/>
          </a:p>
        </p:txBody>
      </p:sp>
      <p:sp>
        <p:nvSpPr>
          <p:cNvPr id="5" name="concl list"/>
          <p:cNvSpPr txBox="1"/>
          <p:nvPr/>
        </p:nvSpPr>
        <p:spPr>
          <a:xfrm>
            <a:off x="731520" y="1783080"/>
            <a:ext cx="365760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At 20% loss QoS 0 delivered 63.8%, QoS 1 delivered 100%</a:t>
            </a:r>
            <a:endParaRPr lang="en-US" sz="1400" dirty="0"/>
          </a:p>
          <a:p>
            <a:pPr marL="342900" indent="-342900">
              <a:spcAft>
                <a:spcPts val="600"/>
              </a:spcAft>
              <a:buSzPct val="100000"/>
              <a:buChar char="•"/>
            </a:pPr>
            <a:r>
              <a:rPr lang="en-US" sz="1400" dirty="0">
                <a:solidFill>
                  <a:schemeClr val="tx1"/>
                </a:solidFill>
              </a:rPr>
              <a:t>QoS 1 latency rose about 52 times, with 314 retransmissions</a:t>
            </a:r>
            <a:endParaRPr lang="en-US" sz="1400" dirty="0"/>
          </a:p>
          <a:p>
            <a:pPr marL="342900" indent="-342900">
              <a:spcAft>
                <a:spcPts val="600"/>
              </a:spcAft>
              <a:buSzPct val="100000"/>
              <a:buChar char="•"/>
            </a:pPr>
            <a:r>
              <a:rPr lang="en-US" sz="1400" dirty="0">
                <a:solidFill>
                  <a:schemeClr val="tx1"/>
                </a:solidFill>
              </a:rPr>
              <a:t>Measurements matched a simple loss model</a:t>
            </a:r>
            <a:endParaRPr lang="en-US" sz="1400" dirty="0"/>
          </a:p>
        </p:txBody>
      </p:sp>
      <p:sp>
        <p:nvSpPr>
          <p:cNvPr id="6" name="future card"/>
          <p:cNvSpPr/>
          <p:nvPr/>
        </p:nvSpPr>
        <p:spPr>
          <a:xfrm>
            <a:off x="4754880" y="1280160"/>
            <a:ext cx="3840480" cy="2377440"/>
          </a:xfrm>
          <a:prstGeom prst="roundRect">
            <a:avLst>
              <a:gd name="adj" fmla="val 4615"/>
            </a:avLst>
          </a:prstGeom>
          <a:solidFill>
            <a:schemeClr val="bg2"/>
          </a:solidFill>
          <a:ln w="12700">
            <a:solidFill>
              <a:schemeClr val="bg2"/>
            </a:solidFill>
            <a:prstDash val="solid"/>
          </a:ln>
        </p:spPr>
      </p:sp>
      <p:sp>
        <p:nvSpPr>
          <p:cNvPr id="7" name="future head"/>
          <p:cNvSpPr txBox="1"/>
          <p:nvPr/>
        </p:nvSpPr>
        <p:spPr>
          <a:xfrm>
            <a:off x="4937760" y="1389888"/>
            <a:ext cx="3474720" cy="320040"/>
          </a:xfrm>
          <a:prstGeom prst="rect">
            <a:avLst/>
          </a:prstGeom>
          <a:noFill/>
          <a:ln/>
        </p:spPr>
        <p:txBody>
          <a:bodyPr wrap="square" lIns="0" tIns="0" rIns="0" bIns="0" rtlCol="0" anchor="t"/>
          <a:lstStyle/>
          <a:p>
            <a:pPr indent="0" marL="0">
              <a:buNone/>
            </a:pPr>
            <a:r>
              <a:rPr lang="en-US" sz="1600" b="1" dirty="0">
                <a:solidFill>
                  <a:schemeClr val="accent1"/>
                </a:solidFill>
              </a:rPr>
              <a:t>Future work</a:t>
            </a:r>
            <a:endParaRPr lang="en-US" sz="1600" dirty="0"/>
          </a:p>
        </p:txBody>
      </p:sp>
      <p:sp>
        <p:nvSpPr>
          <p:cNvPr id="8" name="future list"/>
          <p:cNvSpPr txBox="1"/>
          <p:nvPr/>
        </p:nvSpPr>
        <p:spPr>
          <a:xfrm>
            <a:off x="4937760" y="1783080"/>
            <a:ext cx="347472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Adaptive timeout with backoff</a:t>
            </a:r>
            <a:endParaRPr lang="en-US" sz="1400" dirty="0"/>
          </a:p>
          <a:p>
            <a:pPr marL="342900" indent="-342900">
              <a:spcAft>
                <a:spcPts val="600"/>
              </a:spcAft>
              <a:buSzPct val="100000"/>
              <a:buChar char="•"/>
            </a:pPr>
            <a:r>
              <a:rPr lang="en-US" sz="1400" dirty="0">
                <a:solidFill>
                  <a:schemeClr val="tx1"/>
                </a:solidFill>
              </a:rPr>
              <a:t>QoS 2, keep-alive, last-will</a:t>
            </a:r>
            <a:endParaRPr lang="en-US" sz="1400" dirty="0"/>
          </a:p>
          <a:p>
            <a:pPr marL="342900" indent="-342900">
              <a:spcAft>
                <a:spcPts val="600"/>
              </a:spcAft>
              <a:buSzPct val="100000"/>
              <a:buChar char="•"/>
            </a:pPr>
            <a:r>
              <a:rPr lang="en-US" sz="1400" dirty="0">
                <a:solidFill>
                  <a:schemeClr val="tx1"/>
                </a:solidFill>
              </a:rPr>
              <a:t>TLS and binary encoding</a:t>
            </a:r>
            <a:endParaRPr lang="en-US" sz="1400" dirty="0"/>
          </a:p>
          <a:p>
            <a:pPr marL="342900" indent="-342900">
              <a:spcAft>
                <a:spcPts val="600"/>
              </a:spcAft>
              <a:buSzPct val="100000"/>
              <a:buChar char="•"/>
            </a:pPr>
            <a:r>
              <a:rPr lang="en-US" sz="1400" dirty="0">
                <a:solidFill>
                  <a:schemeClr val="tx1"/>
                </a:solidFill>
              </a:rPr>
              <a:t>Two machines, real loss with netem</a:t>
            </a:r>
            <a:endParaRPr lang="en-US" sz="1400" dirty="0"/>
          </a:p>
        </p:txBody>
      </p:sp>
      <p:sp>
        <p:nvSpPr>
          <p:cNvPr id="9" name="refs"/>
          <p:cNvSpPr txBox="1"/>
          <p:nvPr/>
        </p:nvSpPr>
        <p:spPr>
          <a:xfrm>
            <a:off x="548640" y="3931920"/>
            <a:ext cx="7863840" cy="594360"/>
          </a:xfrm>
          <a:prstGeom prst="rect">
            <a:avLst/>
          </a:prstGeom>
          <a:noFill/>
          <a:ln/>
        </p:spPr>
        <p:txBody>
          <a:bodyPr wrap="square" lIns="0" tIns="0" rIns="0" bIns="0" rtlCol="0" anchor="t"/>
          <a:lstStyle/>
          <a:p>
            <a:pPr indent="0" marL="0">
              <a:buNone/>
            </a:pPr>
            <a:r>
              <a:rPr lang="en-US" sz="1100" dirty="0">
                <a:solidFill>
                  <a:schemeClr val="accent4"/>
                </a:solidFill>
              </a:rPr>
              <a:t>[1] OASIS, MQTT 3.1.1, 2014.  [2] Eugster et al., ACM Comput. Surv., 2003.  [3] Hunkeler et al., COMSWARE, 2008.  [4] Thangavel et al., IEEE ISSNIP, 2014.  [5] Naik, IEEE ISSE, 2017.  [6] Light, J. Open Source Softw., 2017.</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ubsub">
  <a:themeElements>
    <a:clrScheme name="Pubsub">
      <a:dk1>
        <a:srgbClr val="1F2933"/>
      </a:dk1>
      <a:lt1>
        <a:srgbClr val="FFFFFF"/>
      </a:lt1>
      <a:dk2>
        <a:srgbClr val="16324F"/>
      </a:dk2>
      <a:lt2>
        <a:srgbClr val="E6F1F3"/>
      </a:lt2>
      <a:accent1>
        <a:srgbClr val="1B7F8C"/>
      </a:accent1>
      <a:accent2>
        <a:srgbClr val="E0A030"/>
      </a:accent2>
      <a:accent3>
        <a:srgbClr val="C0392B"/>
      </a:accent3>
      <a:accent4>
        <a:srgbClr val="5B6770"/>
      </a:accent4>
      <a:accent5>
        <a:srgbClr val="7FB7BE"/>
      </a:accent5>
      <a:accent6>
        <a:srgbClr val="2E4A6B"/>
      </a:accent6>
      <a:hlink>
        <a:srgbClr val="1B7F8C"/>
      </a:hlink>
      <a:folHlink>
        <a:srgbClr val="5B6770"/>
      </a:folHlink>
    </a:clrScheme>
    <a:fontScheme name="Pubsu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Pub-Sub Messaging with QoS 0 and QoS 1</dc:title>
  <dc:subject>PptxGenJS Presentation</dc:subject>
  <dc:creator>PptxGenJS</dc:creator>
  <cp:lastModifiedBy>PptxGenJS</cp:lastModifiedBy>
  <cp:revision>1</cp:revision>
  <dcterms:created xsi:type="dcterms:W3CDTF">2026-10-20T06:54:43Z</dcterms:created>
  <dcterms:modified xsi:type="dcterms:W3CDTF">2026-10-20T06:54:43Z</dcterms:modified>
</cp:coreProperties>
</file>